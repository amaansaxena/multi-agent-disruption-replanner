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6" r:id="rId17"/>
    <p:sldId id="267" r:id="rId18"/>
    <p:sldId id="264" r:id="rId10"/>
    <p:sldId id="268" r:id="rId19"/>
    <p:sldId id="269" r:id="rId20"/>
    <p:sldId id="265" r:id="rId11"/>
  </p:sldIdLst>
  <p:notesMasterIdLst>
    <p:notesMasterId r:id="rId1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Problem" id="{04a42543-0bfd-ca14-f969-387910251735}">
          <p14:sldIdLst/>
        </p14:section>
        <p14:section name="Default-1" id="{4a135693-2711-cd2a-c406-d8bc2015f812}">
          <p14:sldIdLst>
            <p14:sldId id="257"/>
            <p14:sldId id="258"/>
            <p14:sldId id="259"/>
            <p14:sldId id="260"/>
            <p14:sldId id="261"/>
            <p14:sldId id="262"/>
            <p14:sldId id="263"/>
            <p14:sldId id="264"/>
            <p14:sldId id="26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breath: when a supplier is late, planners lose hours finding what is hit and what to do. The agents do the analysis, a solver picks the cheapest recovery, and a person approves.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this short. The pain is the manual tracing, the first-fix habit and the missing second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BOM, expediting, backup supplier and shortfall in one sentence each. The small diagram on the right is illustrative, not real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six steps quickly. Land on the four pain points underneath.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Planner, Impact Analyst, Replanner, Critic, then a person. The red loop is the failure path. Stress that the solver decides and the Critic checks.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across one row at a time. The key design point is the last line: independent verification.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supplied architecture diagram, unchanged. Follow it top to bottom: alert, Planner, Impact Analyst, Replanner, Critic, decision, human approval or escalation. The red loop on the left is the retry path.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Left side is the happy path with the retry limit. Right side is the six exceptions. Bottom row is the five checks the Critic runs.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Screenshot from the running app. Each row is an order, the tick is its due day, the dot is when it ships. The yellow bars are the two late shipments in this example, Motor Housing and Control Board. Say that alerts are parsed by rules and messages are templates, so the numbers never depend on a language model.</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Be upfront about the limits. Say the baseline is our own stand-in and that there is no language model in this version, which the brief allows. Next steps are ideas, not commitments. Finish on the repository link.</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app. Choose Brightline Electronics, wiring harness, 25 days, press Plan the recovery. Point at the headline numbers, then at the Approve and Reject buttons: a person always decides.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Same run as the last slide. Open What to do, then What to send. Say that the messages are templates, and that rule R5 compares every number in them with the plan.</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Choose the example called A mistake the Critic catches. Open How the agents worked. The red lines are the Critic sending the plan back. The table at the bottom shows exactly which check failed.</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Numbers come from the 20 scenarios in the repository. Two of the 20 plant a mistake on purpose, so they are left out of the cost figures. Quote the median saving, not the average, because two long-delay cases pull the average up.</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548640"/>
          </a:xfrm>
          <a:prstGeom prst="rect">
            <a:avLst/>
          </a:prstGeom>
          <a:noFill/>
          <a:ln/>
        </p:spPr>
        <p:txBody>
          <a:bodyPr wrap="square" rtlCol="0"/>
          <a:lstStyle>
            <a:lvl1pPr algn="l" indent="0" marL="0">
              <a:buNone/>
              <a:defRPr lang="en-US" sz="2600" b="1" dirty="0">
                <a:solidFill>
                  <a:schemeClr val="tx1"/>
                </a:solidFill>
                <a:latin typeface="Calibri" pitchFamily="34" charset="0"/>
                <a:ea typeface="Calibri" pitchFamily="34" charset="-122"/>
                <a:cs typeface="Calibri" pitchFamily="34" charset="-120"/>
              </a:defRPr>
            </a:lvl1pPr>
          </a:lstStyle>
          <a:p>
            <a:pPr algn="l" indent="0" marL="0">
              <a:buNone/>
            </a:pPr>
            <a:endParaRPr lang="en-US" sz="26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p:bg>
      <p:bgPr>
        <a:solidFill>
          <a:srgbClr val="FFFFFF"/>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828032"/>
            <a:ext cx="457200" cy="201168"/>
          </a:xfrm>
          <a:prstGeom prst="rect">
            <a:avLst/>
          </a:prstGeom>
          <a:extLst>
            <a:ext uri="{C572A759-6A51-4108-AA02-DFA0A04FC94B}">
              <ma14:wrappingTextBoxFlag xmlns:ma14="http://schemas.microsoft.com/office/mac/drawingml/2011/main" val="0"/>
            </a:ext>
          </a:extLst>
        </p:spPr>
        <p:txBody>
          <a:bodyPr/>
          <a:lstStyle>
            <a:lvl1pPr>
              <a:defRPr sz="900">
                <a:solidFill>
                  <a:schemeClr val="accent3"/>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 Id="rId3" Type="http://schemas.openxmlformats.org/officeDocument/2006/relationships/hyperlink" Target="https://github.com/amaansaxena/multi-agent-disruption-replanner"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hyperlink" Target="https://github.com/amaansaxena/multi-agent-disruption-replanner/tree/main/data" TargetMode="External"/><Relationship Id="rId4" Type="http://schemas.openxmlformats.org/officeDocument/2006/relationships/hyperlink" Target="https://github.com/amaansaxena/multi-agent-disruption-replanner"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png"/><Relationship Id="rId3" Type="http://schemas.openxmlformats.org/officeDocument/2006/relationships/image" Target="../media/image6.png"/><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7.png"/><Relationship Id="rId3"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548640" y="640080"/>
            <a:ext cx="5029200" cy="1508760"/>
          </a:xfrm>
          <a:prstGeom prst="rect">
            <a:avLst/>
          </a:prstGeom>
          <a:noFill/>
          <a:ln/>
        </p:spPr>
        <p:txBody>
          <a:bodyPr wrap="square" lIns="0" tIns="0" rIns="0" bIns="0" rtlCol="0" anchor="t"/>
          <a:lstStyle/>
          <a:p>
            <a:pPr algn="l" indent="0" marL="0">
              <a:buNone/>
            </a:pPr>
            <a:r>
              <a:rPr lang="en-US" sz="2800" b="1" dirty="0">
                <a:solidFill>
                  <a:schemeClr val="tx1"/>
                </a:solidFill>
                <a:latin typeface="Calibri" pitchFamily="34" charset="0"/>
                <a:ea typeface="Calibri" pitchFamily="34" charset="-122"/>
                <a:cs typeface="Calibri" pitchFamily="34" charset="-120"/>
              </a:rPr>
              <a:t>Multi-Agent Disruption Replanning for Manufacturing Supply Chains</a:t>
            </a:r>
            <a:endParaRPr lang="en-US" sz="2800" dirty="0"/>
          </a:p>
        </p:txBody>
      </p:sp>
      <p:sp>
        <p:nvSpPr>
          <p:cNvPr id="3" name="Text 1"/>
          <p:cNvSpPr txBox="1"/>
          <p:nvPr/>
        </p:nvSpPr>
        <p:spPr>
          <a:xfrm>
            <a:off x="548640" y="2286000"/>
            <a:ext cx="4937760" cy="868680"/>
          </a:xfrm>
          <a:prstGeom prst="rect">
            <a:avLst/>
          </a:prstGeom>
          <a:noFill/>
          <a:ln/>
        </p:spPr>
        <p:txBody>
          <a:bodyPr wrap="square" lIns="0" tIns="0" rIns="0" bIns="0" rtlCol="0" anchor="t"/>
          <a:lstStyle/>
          <a:p>
            <a:pPr algn="l" indent="0" marL="0">
              <a:buNone/>
            </a:pPr>
            <a:r>
              <a:rPr lang="en-US" sz="1400" dirty="0">
                <a:solidFill>
                  <a:schemeClr val="accent3"/>
                </a:solidFill>
                <a:latin typeface="Calibri" pitchFamily="34" charset="0"/>
                <a:ea typeface="Calibri" pitchFamily="34" charset="-122"/>
                <a:cs typeface="Calibri" pitchFamily="34" charset="-120"/>
              </a:rPr>
              <a:t>A small team of agents that works out what a late supplier will break, builds the cheapest recovery plan, and checks its own numbers before a person signs off.</a:t>
            </a:r>
            <a:endParaRPr lang="en-US" sz="1400" dirty="0"/>
          </a:p>
        </p:txBody>
      </p:sp>
      <p:sp>
        <p:nvSpPr>
          <p:cNvPr id="4" name="Text 2"/>
          <p:cNvSpPr txBox="1"/>
          <p:nvPr/>
        </p:nvSpPr>
        <p:spPr>
          <a:xfrm>
            <a:off x="548640" y="3154680"/>
            <a:ext cx="4937760" cy="1508760"/>
          </a:xfrm>
          <a:prstGeom prst="rect">
            <a:avLst/>
          </a:prstGeom>
          <a:noFill/>
          <a:ln/>
        </p:spPr>
        <p:txBody>
          <a:bodyPr wrap="square" lIns="0" tIns="0" rIns="0" bIns="0" rtlCol="0" anchor="t"/>
          <a:lstStyle/>
          <a:p>
            <a:pPr algn="l" indent="0" marL="0">
              <a:spcAft>
                <a:spcPts val="200"/>
              </a:spcAft>
              <a:buNone/>
            </a:pPr>
            <a:r>
              <a:rPr lang="en-US" sz="1500" b="1" dirty="0">
                <a:solidFill>
                  <a:schemeClr val="tx1"/>
                </a:solidFill>
                <a:latin typeface="Calibri" pitchFamily="34" charset="0"/>
                <a:ea typeface="Calibri" pitchFamily="34" charset="-122"/>
                <a:cs typeface="Calibri" pitchFamily="34" charset="-120"/>
              </a:rPr>
              <a:t>Aditya Sharma</a:t>
            </a:r>
            <a:endParaRPr lang="en-US" sz="1300" dirty="0"/>
          </a:p>
          <a:p>
            <a:pPr algn="l" indent="0" marL="0">
              <a:spcAft>
                <a:spcPts val="800"/>
              </a:spcAft>
              <a:buNone/>
            </a:pPr>
            <a:r>
              <a:rPr lang="en-US" sz="1300" dirty="0">
                <a:solidFill>
                  <a:schemeClr val="tx1"/>
                </a:solidFill>
                <a:latin typeface="Calibri" pitchFamily="34" charset="0"/>
                <a:ea typeface="Calibri" pitchFamily="34" charset="-122"/>
                <a:cs typeface="Calibri" pitchFamily="34" charset="-120"/>
              </a:rPr>
              <a:t>PRN 24070126016  |  Division A1</a:t>
            </a:r>
            <a:endParaRPr lang="en-US" sz="1300" dirty="0"/>
          </a:p>
          <a:p>
            <a:pPr algn="l" indent="0" marL="0">
              <a:spcAft>
                <a:spcPts val="200"/>
              </a:spcAft>
              <a:buNone/>
            </a:pPr>
            <a:r>
              <a:rPr lang="en-US" sz="1500" b="1" dirty="0">
                <a:solidFill>
                  <a:schemeClr val="tx1"/>
                </a:solidFill>
                <a:latin typeface="Calibri" pitchFamily="34" charset="0"/>
                <a:ea typeface="Calibri" pitchFamily="34" charset="-122"/>
                <a:cs typeface="Calibri" pitchFamily="34" charset="-120"/>
              </a:rPr>
              <a:t>Amaan Saxena</a:t>
            </a:r>
            <a:endParaRPr lang="en-US" sz="1300" dirty="0"/>
          </a:p>
          <a:p>
            <a:pPr algn="l" indent="0" marL="0">
              <a:spcAft>
                <a:spcPts val="800"/>
              </a:spcAft>
              <a:buNone/>
            </a:pPr>
            <a:r>
              <a:rPr lang="en-US" sz="1300" dirty="0">
                <a:solidFill>
                  <a:schemeClr val="tx1"/>
                </a:solidFill>
                <a:latin typeface="Calibri" pitchFamily="34" charset="0"/>
                <a:ea typeface="Calibri" pitchFamily="34" charset="-122"/>
                <a:cs typeface="Calibri" pitchFamily="34" charset="-120"/>
              </a:rPr>
              <a:t>PRN 24070126029</a:t>
            </a:r>
            <a:endParaRPr lang="en-US" sz="1300" dirty="0"/>
          </a:p>
          <a:p>
            <a:pPr algn="l" indent="0" marL="0">
              <a:spcAft>
                <a:spcPts val="200"/>
              </a:spcAft>
              <a:buNone/>
            </a:pPr>
            <a:r>
              <a:rPr lang="en-US" sz="1300" dirty="0">
                <a:solidFill>
                  <a:schemeClr val="tx1"/>
                </a:solidFill>
                <a:latin typeface="Calibri" pitchFamily="34" charset="0"/>
                <a:ea typeface="Calibri" pitchFamily="34" charset="-122"/>
                <a:cs typeface="Calibri" pitchFamily="34" charset="-120"/>
              </a:rPr>
              <a:t>AI &amp; ML, Symbiosis Institute of Technology, Pune</a:t>
            </a:r>
            <a:endParaRPr lang="en-US" sz="1300" dirty="0"/>
          </a:p>
        </p:txBody>
      </p:sp>
      <p:sp>
        <p:nvSpPr>
          <p:cNvPr id="5" name="Shape 3"/>
          <p:cNvSpPr/>
          <p:nvPr/>
        </p:nvSpPr>
        <p:spPr>
          <a:xfrm>
            <a:off x="5989320" y="502920"/>
            <a:ext cx="2697480" cy="4114800"/>
          </a:xfrm>
          <a:prstGeom prst="roundRect">
            <a:avLst>
              <a:gd name="adj" fmla="val 2034"/>
            </a:avLst>
          </a:prstGeom>
          <a:solidFill>
            <a:schemeClr val="bg2"/>
          </a:solidFill>
          <a:ln/>
        </p:spPr>
      </p:sp>
      <p:sp>
        <p:nvSpPr>
          <p:cNvPr id="6" name="Shape 4"/>
          <p:cNvSpPr/>
          <p:nvPr/>
        </p:nvSpPr>
        <p:spPr>
          <a:xfrm>
            <a:off x="6217920" y="731520"/>
            <a:ext cx="2240280" cy="640080"/>
          </a:xfrm>
          <a:prstGeom prst="roundRect">
            <a:avLst>
              <a:gd name="adj" fmla="val 8571"/>
            </a:avLst>
          </a:prstGeom>
          <a:solidFill>
            <a:schemeClr val="bg1"/>
          </a:solidFill>
          <a:ln w="19050">
            <a:solidFill>
              <a:schemeClr val="accent2"/>
            </a:solidFill>
            <a:prstDash val="solid"/>
          </a:ln>
        </p:spPr>
      </p:sp>
      <p:sp>
        <p:nvSpPr>
          <p:cNvPr id="7" name="Text 5"/>
          <p:cNvSpPr txBox="1"/>
          <p:nvPr/>
        </p:nvSpPr>
        <p:spPr>
          <a:xfrm>
            <a:off x="6217920" y="813816"/>
            <a:ext cx="2240280" cy="502920"/>
          </a:xfrm>
          <a:prstGeom prst="rect">
            <a:avLst/>
          </a:prstGeom>
          <a:noFill/>
          <a:ln/>
        </p:spPr>
        <p:txBody>
          <a:bodyPr wrap="square" lIns="0" tIns="0" rIns="0" bIns="0" rtlCol="0" anchor="t"/>
          <a:lstStyle/>
          <a:p>
            <a:pPr algn="ctr" indent="0" marL="0">
              <a:buNone/>
            </a:pPr>
            <a:r>
              <a:rPr lang="en-US" sz="1300" b="1" dirty="0">
                <a:solidFill>
                  <a:schemeClr val="tx1"/>
                </a:solidFill>
                <a:latin typeface="Calibri" pitchFamily="34" charset="0"/>
                <a:ea typeface="Calibri" pitchFamily="34" charset="-122"/>
                <a:cs typeface="Calibri" pitchFamily="34" charset="-120"/>
              </a:rPr>
              <a:t>Supplier S2</a:t>
            </a:r>
            <a:endParaRPr lang="en-US" sz="1300" dirty="0"/>
          </a:p>
          <a:p>
            <a:pPr algn="ctr" indent="0" marL="0">
              <a:buNone/>
            </a:pPr>
            <a:r>
              <a:rPr lang="en-US" sz="1150" dirty="0">
                <a:solidFill>
                  <a:schemeClr val="accent3"/>
                </a:solidFill>
                <a:latin typeface="Calibri" pitchFamily="34" charset="0"/>
                <a:ea typeface="Calibri" pitchFamily="34" charset="-122"/>
                <a:cs typeface="Calibri" pitchFamily="34" charset="-120"/>
              </a:rPr>
              <a:t>delays part P4 by 10 days</a:t>
            </a:r>
            <a:endParaRPr lang="en-US" sz="1300" dirty="0"/>
          </a:p>
        </p:txBody>
      </p:sp>
      <p:sp>
        <p:nvSpPr>
          <p:cNvPr id="8" name="Shape 6"/>
          <p:cNvSpPr/>
          <p:nvPr/>
        </p:nvSpPr>
        <p:spPr>
          <a:xfrm>
            <a:off x="7338060" y="1371600"/>
            <a:ext cx="0" cy="338328"/>
          </a:xfrm>
          <a:prstGeom prst="line">
            <a:avLst/>
          </a:prstGeom>
          <a:noFill/>
          <a:ln w="19050">
            <a:solidFill>
              <a:schemeClr val="accent3"/>
            </a:solidFill>
            <a:prstDash val="solid"/>
            <a:tailEnd type="triangle"/>
          </a:ln>
        </p:spPr>
      </p:sp>
      <p:sp>
        <p:nvSpPr>
          <p:cNvPr id="9" name="Shape 7"/>
          <p:cNvSpPr/>
          <p:nvPr/>
        </p:nvSpPr>
        <p:spPr>
          <a:xfrm>
            <a:off x="6217920" y="1709928"/>
            <a:ext cx="2240280" cy="640080"/>
          </a:xfrm>
          <a:prstGeom prst="roundRect">
            <a:avLst>
              <a:gd name="adj" fmla="val 8571"/>
            </a:avLst>
          </a:prstGeom>
          <a:solidFill>
            <a:schemeClr val="bg1"/>
          </a:solidFill>
          <a:ln w="19050">
            <a:solidFill>
              <a:schemeClr val="accent1"/>
            </a:solidFill>
            <a:prstDash val="solid"/>
          </a:ln>
        </p:spPr>
      </p:sp>
      <p:sp>
        <p:nvSpPr>
          <p:cNvPr id="10" name="Text 8"/>
          <p:cNvSpPr txBox="1"/>
          <p:nvPr/>
        </p:nvSpPr>
        <p:spPr>
          <a:xfrm>
            <a:off x="6217920" y="1792224"/>
            <a:ext cx="2240280" cy="502920"/>
          </a:xfrm>
          <a:prstGeom prst="rect">
            <a:avLst/>
          </a:prstGeom>
          <a:noFill/>
          <a:ln/>
        </p:spPr>
        <p:txBody>
          <a:bodyPr wrap="square" lIns="0" tIns="0" rIns="0" bIns="0" rtlCol="0" anchor="t"/>
          <a:lstStyle/>
          <a:p>
            <a:pPr algn="ctr" indent="0" marL="0">
              <a:buNone/>
            </a:pPr>
            <a:r>
              <a:rPr lang="en-US" sz="1300" b="1" dirty="0">
                <a:solidFill>
                  <a:schemeClr val="tx1"/>
                </a:solidFill>
                <a:latin typeface="Calibri" pitchFamily="34" charset="0"/>
                <a:ea typeface="Calibri" pitchFamily="34" charset="-122"/>
                <a:cs typeface="Calibri" pitchFamily="34" charset="-120"/>
              </a:rPr>
              <a:t>Part P4</a:t>
            </a:r>
            <a:endParaRPr lang="en-US" sz="1300" dirty="0"/>
          </a:p>
          <a:p>
            <a:pPr algn="ctr" indent="0" marL="0">
              <a:buNone/>
            </a:pPr>
            <a:r>
              <a:rPr lang="en-US" sz="1150" dirty="0">
                <a:solidFill>
                  <a:schemeClr val="accent3"/>
                </a:solidFill>
                <a:latin typeface="Calibri" pitchFamily="34" charset="0"/>
                <a:ea typeface="Calibri" pitchFamily="34" charset="-122"/>
                <a:cs typeface="Calibri" pitchFamily="34" charset="-120"/>
              </a:rPr>
              <a:t>arrives late</a:t>
            </a:r>
            <a:endParaRPr lang="en-US" sz="1300" dirty="0"/>
          </a:p>
        </p:txBody>
      </p:sp>
      <p:sp>
        <p:nvSpPr>
          <p:cNvPr id="11" name="Shape 9"/>
          <p:cNvSpPr/>
          <p:nvPr/>
        </p:nvSpPr>
        <p:spPr>
          <a:xfrm>
            <a:off x="7338060" y="2350008"/>
            <a:ext cx="0" cy="338328"/>
          </a:xfrm>
          <a:prstGeom prst="line">
            <a:avLst/>
          </a:prstGeom>
          <a:noFill/>
          <a:ln w="19050">
            <a:solidFill>
              <a:schemeClr val="accent3"/>
            </a:solidFill>
            <a:prstDash val="solid"/>
            <a:tailEnd type="triangle"/>
          </a:ln>
        </p:spPr>
      </p:sp>
      <p:sp>
        <p:nvSpPr>
          <p:cNvPr id="12" name="Shape 10"/>
          <p:cNvSpPr/>
          <p:nvPr/>
        </p:nvSpPr>
        <p:spPr>
          <a:xfrm>
            <a:off x="6217920" y="2688336"/>
            <a:ext cx="2240280" cy="640080"/>
          </a:xfrm>
          <a:prstGeom prst="roundRect">
            <a:avLst>
              <a:gd name="adj" fmla="val 8571"/>
            </a:avLst>
          </a:prstGeom>
          <a:solidFill>
            <a:schemeClr val="bg1"/>
          </a:solidFill>
          <a:ln w="19050">
            <a:solidFill>
              <a:schemeClr val="accent1"/>
            </a:solidFill>
            <a:prstDash val="solid"/>
          </a:ln>
        </p:spPr>
      </p:sp>
      <p:sp>
        <p:nvSpPr>
          <p:cNvPr id="13" name="Text 11"/>
          <p:cNvSpPr txBox="1"/>
          <p:nvPr/>
        </p:nvSpPr>
        <p:spPr>
          <a:xfrm>
            <a:off x="6217920" y="2770632"/>
            <a:ext cx="2240280" cy="502920"/>
          </a:xfrm>
          <a:prstGeom prst="rect">
            <a:avLst/>
          </a:prstGeom>
          <a:noFill/>
          <a:ln/>
        </p:spPr>
        <p:txBody>
          <a:bodyPr wrap="square" lIns="0" tIns="0" rIns="0" bIns="0" rtlCol="0" anchor="t"/>
          <a:lstStyle/>
          <a:p>
            <a:pPr algn="ctr" indent="0" marL="0">
              <a:buNone/>
            </a:pPr>
            <a:r>
              <a:rPr lang="en-US" sz="1300" b="1" dirty="0">
                <a:solidFill>
                  <a:schemeClr val="tx1"/>
                </a:solidFill>
                <a:latin typeface="Calibri" pitchFamily="34" charset="0"/>
                <a:ea typeface="Calibri" pitchFamily="34" charset="-122"/>
                <a:cs typeface="Calibri" pitchFamily="34" charset="-120"/>
              </a:rPr>
              <a:t>Products that use P4</a:t>
            </a:r>
            <a:endParaRPr lang="en-US" sz="1300" dirty="0"/>
          </a:p>
          <a:p>
            <a:pPr algn="ctr" indent="0" marL="0">
              <a:buNone/>
            </a:pPr>
            <a:r>
              <a:rPr lang="en-US" sz="1150" dirty="0">
                <a:solidFill>
                  <a:schemeClr val="accent3"/>
                </a:solidFill>
                <a:latin typeface="Calibri" pitchFamily="34" charset="0"/>
                <a:ea typeface="Calibri" pitchFamily="34" charset="-122"/>
                <a:cs typeface="Calibri" pitchFamily="34" charset="-120"/>
              </a:rPr>
              <a:t>builds are held up</a:t>
            </a:r>
            <a:endParaRPr lang="en-US" sz="1300" dirty="0"/>
          </a:p>
        </p:txBody>
      </p:sp>
      <p:sp>
        <p:nvSpPr>
          <p:cNvPr id="14" name="Shape 12"/>
          <p:cNvSpPr/>
          <p:nvPr/>
        </p:nvSpPr>
        <p:spPr>
          <a:xfrm>
            <a:off x="7338060" y="3328416"/>
            <a:ext cx="0" cy="338328"/>
          </a:xfrm>
          <a:prstGeom prst="line">
            <a:avLst/>
          </a:prstGeom>
          <a:noFill/>
          <a:ln w="19050">
            <a:solidFill>
              <a:schemeClr val="accent3"/>
            </a:solidFill>
            <a:prstDash val="solid"/>
            <a:tailEnd type="triangle"/>
          </a:ln>
        </p:spPr>
      </p:sp>
      <p:sp>
        <p:nvSpPr>
          <p:cNvPr id="15" name="Shape 13"/>
          <p:cNvSpPr/>
          <p:nvPr/>
        </p:nvSpPr>
        <p:spPr>
          <a:xfrm>
            <a:off x="6217920" y="3666744"/>
            <a:ext cx="2240280" cy="640080"/>
          </a:xfrm>
          <a:prstGeom prst="roundRect">
            <a:avLst>
              <a:gd name="adj" fmla="val 8571"/>
            </a:avLst>
          </a:prstGeom>
          <a:solidFill>
            <a:schemeClr val="bg1"/>
          </a:solidFill>
          <a:ln w="19050">
            <a:solidFill>
              <a:schemeClr val="accent1"/>
            </a:solidFill>
            <a:prstDash val="solid"/>
          </a:ln>
        </p:spPr>
      </p:sp>
      <p:sp>
        <p:nvSpPr>
          <p:cNvPr id="16" name="Text 14"/>
          <p:cNvSpPr txBox="1"/>
          <p:nvPr/>
        </p:nvSpPr>
        <p:spPr>
          <a:xfrm>
            <a:off x="6217920" y="3749040"/>
            <a:ext cx="2240280" cy="502920"/>
          </a:xfrm>
          <a:prstGeom prst="rect">
            <a:avLst/>
          </a:prstGeom>
          <a:noFill/>
          <a:ln/>
        </p:spPr>
        <p:txBody>
          <a:bodyPr wrap="square" lIns="0" tIns="0" rIns="0" bIns="0" rtlCol="0" anchor="t"/>
          <a:lstStyle/>
          <a:p>
            <a:pPr algn="ctr" indent="0" marL="0">
              <a:buNone/>
            </a:pPr>
            <a:r>
              <a:rPr lang="en-US" sz="1300" b="1" dirty="0">
                <a:solidFill>
                  <a:schemeClr val="tx1"/>
                </a:solidFill>
                <a:latin typeface="Calibri" pitchFamily="34" charset="0"/>
                <a:ea typeface="Calibri" pitchFamily="34" charset="-122"/>
                <a:cs typeface="Calibri" pitchFamily="34" charset="-120"/>
              </a:rPr>
              <a:t>Customer orders</a:t>
            </a:r>
            <a:endParaRPr lang="en-US" sz="1300" dirty="0"/>
          </a:p>
          <a:p>
            <a:pPr algn="ctr" indent="0" marL="0">
              <a:buNone/>
            </a:pPr>
            <a:r>
              <a:rPr lang="en-US" sz="1150" dirty="0">
                <a:solidFill>
                  <a:schemeClr val="accent3"/>
                </a:solidFill>
                <a:latin typeface="Calibri" pitchFamily="34" charset="0"/>
                <a:ea typeface="Calibri" pitchFamily="34" charset="-122"/>
                <a:cs typeface="Calibri" pitchFamily="34" charset="-120"/>
              </a:rPr>
              <a:t>ship late</a:t>
            </a:r>
            <a:endParaRPr lang="en-US" sz="1300" dirty="0"/>
          </a:p>
        </p:txBody>
      </p:sp>
      <p:sp>
        <p:nvSpPr>
          <p:cNvPr id="17" name="GitHub link"/>
          <p:cNvSpPr txBox="1"/>
          <p:nvPr/>
        </p:nvSpPr>
        <p:spPr>
          <a:xfrm>
            <a:off x="548640" y="4590288"/>
            <a:ext cx="5303520" cy="274320"/>
          </a:xfrm>
          <a:prstGeom prst="rect">
            <a:avLst/>
          </a:prstGeom>
          <a:noFill/>
        </p:spPr>
        <p:txBody>
          <a:bodyPr wrap="square" lIns="0" rIns="0" tIns="0" bIns="0" anchor="t">
            <a:spAutoFit/>
          </a:bodyPr>
          <a:lstStyle/>
          <a:p>
            <a:pPr algn="l"/>
            <a:r>
              <a:rPr sz="1100" b="1" i="0">
                <a:solidFill>
                  <a:schemeClr val="accent3"/>
                </a:solidFill>
                <a:latin typeface="Calibri"/>
              </a:rPr>
              <a:t>GitHub  </a:t>
            </a:r>
            <a:r>
              <a:rPr sz="1100" b="0" i="0" u="sng">
                <a:solidFill>
                  <a:schemeClr val="accent1"/>
                </a:solidFill>
                <a:latin typeface="Calibri"/>
                <a:hlinkClick r:id="rId3"/>
              </a:rPr>
              <a:t>https://github.com/amaansaxena/multi-agent-disruption-replanner</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548640"/>
          </a:xfrm>
          <a:prstGeom prst="rect">
            <a:avLst/>
          </a:prstGeom>
          <a:noFill/>
          <a:ln/>
        </p:spPr>
        <p:txBody>
          <a:bodyPr wrap="square" lIns="0" tIns="0" rIns="0" bIns="0" rtlCol="0" anchor="ctr"/>
          <a:lstStyle/>
          <a:p>
            <a:pPr algn="l" indent="0" marL="0">
              <a:buNone/>
            </a:pPr>
            <a:r>
              <a:rPr lang="en-US" sz="2600" b="1" dirty="0">
                <a:solidFill>
                  <a:schemeClr val="tx1"/>
                </a:solidFill>
                <a:latin typeface="Calibri" pitchFamily="34" charset="0"/>
                <a:ea typeface="Calibri" pitchFamily="34" charset="-122"/>
                <a:cs typeface="Calibri" pitchFamily="34" charset="-120"/>
              </a:rPr>
              <a:t>Problem statement</a:t>
            </a:r>
            <a:endParaRPr lang="en-US" sz="2600" dirty="0"/>
          </a:p>
        </p:txBody>
      </p:sp>
      <p:sp>
        <p:nvSpPr>
          <p:cNvPr id="3" name="Text 1"/>
          <p:cNvSpPr txBox="1"/>
          <p:nvPr/>
        </p:nvSpPr>
        <p:spPr>
          <a:xfrm>
            <a:off x="457200" y="1051560"/>
            <a:ext cx="4663440" cy="1234440"/>
          </a:xfrm>
          <a:prstGeom prst="rect">
            <a:avLst/>
          </a:prstGeom>
          <a:noFill/>
          <a:ln/>
        </p:spPr>
        <p:txBody>
          <a:bodyPr wrap="square" lIns="0" tIns="0" rIns="0" bIns="0" rtlCol="0" anchor="t"/>
          <a:lstStyle/>
          <a:p>
            <a:pPr algn="l" indent="0" marL="0">
              <a:buNone/>
            </a:pPr>
            <a:r>
              <a:rPr lang="en-US" sz="1600" dirty="0">
                <a:solidFill>
                  <a:schemeClr val="tx1"/>
                </a:solidFill>
                <a:latin typeface="Calibri" pitchFamily="34" charset="0"/>
                <a:ea typeface="Calibri" pitchFamily="34" charset="-122"/>
                <a:cs typeface="Calibri" pitchFamily="34" charset="-120"/>
              </a:rPr>
              <a:t>When a supplier tells a factory that a part will arrive late, a planner has to work out which customer orders will slip and how to recover. Today that happens by hand in spreadsheets.</a:t>
            </a:r>
            <a:endParaRPr lang="en-US" sz="1600" dirty="0"/>
          </a:p>
        </p:txBody>
      </p:sp>
      <p:sp>
        <p:nvSpPr>
          <p:cNvPr id="4" name="Text 2"/>
          <p:cNvSpPr txBox="1"/>
          <p:nvPr/>
        </p:nvSpPr>
        <p:spPr>
          <a:xfrm>
            <a:off x="457200" y="2377440"/>
            <a:ext cx="4663440" cy="1325880"/>
          </a:xfrm>
          <a:prstGeom prst="rect">
            <a:avLst/>
          </a:prstGeom>
          <a:noFill/>
          <a:ln/>
        </p:spPr>
        <p:txBody>
          <a:bodyPr wrap="square" lIns="0" tIns="0" rIns="0" bIns="0" rtlCol="0" anchor="t"/>
          <a:lstStyle/>
          <a:p>
            <a:pPr algn="l" indent="0" marL="0">
              <a:buNone/>
            </a:pPr>
            <a:r>
              <a:rPr lang="en-US" sz="1600" dirty="0">
                <a:solidFill>
                  <a:schemeClr val="tx1"/>
                </a:solidFill>
                <a:latin typeface="Calibri" pitchFamily="34" charset="0"/>
                <a:ea typeface="Calibri" pitchFamily="34" charset="-122"/>
                <a:cs typeface="Calibri" pitchFamily="34" charset="-120"/>
              </a:rPr>
              <a:t>The planner usually takes the first fix that works, like rushing a shipment or switching supplier, and never finds out whether it was the cheapest option. Nobody double-checks the numbers before the plan goes out.</a:t>
            </a:r>
            <a:endParaRPr lang="en-US" sz="1600" dirty="0"/>
          </a:p>
        </p:txBody>
      </p:sp>
      <p:sp>
        <p:nvSpPr>
          <p:cNvPr id="6" name="Text 4"/>
          <p:cNvSpPr txBox="1"/>
          <p:nvPr/>
        </p:nvSpPr>
        <p:spPr>
          <a:xfrm>
            <a:off x="457200" y="3941064"/>
            <a:ext cx="4663440" cy="576072"/>
          </a:xfrm>
          <a:prstGeom prst="rect">
            <a:avLst/>
          </a:prstGeom>
          <a:noFill/>
          <a:ln/>
        </p:spPr>
        <p:txBody>
          <a:bodyPr wrap="square" lIns="0" tIns="0" rIns="0" bIns="0" rtlCol="0" anchor="ctr"/>
          <a:lstStyle/>
          <a:p>
            <a:pPr algn="l" indent="0" marL="0">
              <a:buNone/>
            </a:pPr>
            <a:r>
              <a:rPr lang="en-US" sz="1250" i="1" dirty="0">
                <a:solidFill>
                  <a:schemeClr val="tx1"/>
                </a:solidFill>
                <a:latin typeface="Calibri" pitchFamily="34" charset="0"/>
                <a:ea typeface="Calibri" pitchFamily="34" charset="-122"/>
                <a:cs typeface="Calibri" pitchFamily="34" charset="-120"/>
              </a:rPr>
              <a:t>This project builds a proof of concept that does the analysis, picks the cheapest recovery, and verifies it before a human approves.</a:t>
            </a:r>
            <a:endParaRPr lang="en-US" sz="1250" dirty="0"/>
          </a:p>
        </p:txBody>
      </p:sp>
      <p:sp>
        <p:nvSpPr>
          <p:cNvPr id="7" name="Text 5"/>
          <p:cNvSpPr txBox="1"/>
          <p:nvPr/>
        </p:nvSpPr>
        <p:spPr>
          <a:xfrm>
            <a:off x="5577840" y="1051560"/>
            <a:ext cx="3108960" cy="274320"/>
          </a:xfrm>
          <a:prstGeom prst="rect">
            <a:avLst/>
          </a:prstGeom>
          <a:noFill/>
          <a:ln/>
        </p:spPr>
        <p:txBody>
          <a:bodyPr wrap="square" lIns="0" tIns="0" rIns="0" bIns="0" rtlCol="0" anchor="t"/>
          <a:lstStyle/>
          <a:p>
            <a:pPr algn="l" indent="0" marL="0">
              <a:buNone/>
            </a:pPr>
            <a:r>
              <a:rPr lang="en-US" sz="1400" b="1" dirty="0">
                <a:solidFill>
                  <a:schemeClr val="accent1"/>
                </a:solidFill>
                <a:latin typeface="Calibri" pitchFamily="34" charset="0"/>
                <a:ea typeface="Calibri" pitchFamily="34" charset="-122"/>
                <a:cs typeface="Calibri" pitchFamily="34" charset="-120"/>
              </a:rPr>
              <a:t>What the process needs</a:t>
            </a:r>
            <a:endParaRPr lang="en-US" sz="1400" dirty="0"/>
          </a:p>
        </p:txBody>
      </p:sp>
      <p:sp>
        <p:nvSpPr>
          <p:cNvPr id="10" name="Text 8"/>
          <p:cNvSpPr txBox="1"/>
          <p:nvPr/>
        </p:nvSpPr>
        <p:spPr>
          <a:xfrm>
            <a:off x="5577840" y="1481328"/>
            <a:ext cx="3108960" cy="640080"/>
          </a:xfrm>
          <a:prstGeom prst="rect">
            <a:avLst/>
          </a:prstGeom>
          <a:noFill/>
          <a:ln/>
        </p:spPr>
        <p:txBody>
          <a:bodyPr wrap="square" lIns="0" tIns="0" rIns="0" bIns="0" rtlCol="0" anchor="ctr"/>
          <a:lstStyle/>
          <a:p>
            <a:pPr algn="l" indent="0" marL="0">
              <a:buNone/>
            </a:pPr>
            <a:r>
              <a:rPr lang="en-US" sz="1400" b="1" dirty="0">
                <a:solidFill>
                  <a:schemeClr val="tx1"/>
                </a:solidFill>
                <a:latin typeface="Calibri" pitchFamily="34" charset="0"/>
                <a:ea typeface="Calibri" pitchFamily="34" charset="-122"/>
                <a:cs typeface="Calibri" pitchFamily="34" charset="-120"/>
              </a:rPr>
              <a:t>Find the cheapest recovery plan</a:t>
            </a:r>
            <a:endParaRPr lang="en-US" sz="1300" dirty="0"/>
          </a:p>
          <a:p>
            <a:pPr algn="l" indent="0" marL="0">
              <a:buNone/>
            </a:pPr>
            <a:r>
              <a:rPr lang="en-US" sz="1150" dirty="0">
                <a:solidFill>
                  <a:schemeClr val="accent3"/>
                </a:solidFill>
                <a:latin typeface="Calibri" pitchFamily="34" charset="0"/>
                <a:ea typeface="Calibri" pitchFamily="34" charset="-122"/>
                <a:cs typeface="Calibri" pitchFamily="34" charset="-120"/>
              </a:rPr>
              <a:t>Not just the first one that works</a:t>
            </a:r>
            <a:endParaRPr lang="en-US" sz="1300" dirty="0"/>
          </a:p>
        </p:txBody>
      </p:sp>
      <p:sp>
        <p:nvSpPr>
          <p:cNvPr id="13" name="Text 11"/>
          <p:cNvSpPr txBox="1"/>
          <p:nvPr/>
        </p:nvSpPr>
        <p:spPr>
          <a:xfrm>
            <a:off x="5577840" y="2505456"/>
            <a:ext cx="3108960" cy="640080"/>
          </a:xfrm>
          <a:prstGeom prst="rect">
            <a:avLst/>
          </a:prstGeom>
          <a:noFill/>
          <a:ln/>
        </p:spPr>
        <p:txBody>
          <a:bodyPr wrap="square" lIns="0" tIns="0" rIns="0" bIns="0" rtlCol="0" anchor="ctr"/>
          <a:lstStyle/>
          <a:p>
            <a:pPr algn="l" indent="0" marL="0">
              <a:buNone/>
            </a:pPr>
            <a:r>
              <a:rPr lang="en-US" sz="1400" b="1" dirty="0">
                <a:solidFill>
                  <a:schemeClr val="tx1"/>
                </a:solidFill>
                <a:latin typeface="Calibri" pitchFamily="34" charset="0"/>
                <a:ea typeface="Calibri" pitchFamily="34" charset="-122"/>
                <a:cs typeface="Calibri" pitchFamily="34" charset="-120"/>
              </a:rPr>
              <a:t>Verify the numbers</a:t>
            </a:r>
            <a:endParaRPr lang="en-US" sz="1300" dirty="0"/>
          </a:p>
          <a:p>
            <a:pPr algn="l" indent="0" marL="0">
              <a:buNone/>
            </a:pPr>
            <a:r>
              <a:rPr lang="en-US" sz="1150" dirty="0">
                <a:solidFill>
                  <a:schemeClr val="accent3"/>
                </a:solidFill>
                <a:latin typeface="Calibri" pitchFamily="34" charset="0"/>
                <a:ea typeface="Calibri" pitchFamily="34" charset="-122"/>
                <a:cs typeface="Calibri" pitchFamily="34" charset="-120"/>
              </a:rPr>
              <a:t>Recompute them independently from the raw data</a:t>
            </a:r>
            <a:endParaRPr lang="en-US" sz="1300" dirty="0"/>
          </a:p>
        </p:txBody>
      </p:sp>
      <p:sp>
        <p:nvSpPr>
          <p:cNvPr id="16" name="Text 14"/>
          <p:cNvSpPr txBox="1"/>
          <p:nvPr/>
        </p:nvSpPr>
        <p:spPr>
          <a:xfrm>
            <a:off x="5577840" y="3529584"/>
            <a:ext cx="3108960" cy="640080"/>
          </a:xfrm>
          <a:prstGeom prst="rect">
            <a:avLst/>
          </a:prstGeom>
          <a:noFill/>
          <a:ln/>
        </p:spPr>
        <p:txBody>
          <a:bodyPr wrap="square" lIns="0" tIns="0" rIns="0" bIns="0" rtlCol="0" anchor="ctr"/>
          <a:lstStyle/>
          <a:p>
            <a:pPr algn="l" indent="0" marL="0">
              <a:buNone/>
            </a:pPr>
            <a:r>
              <a:rPr lang="en-US" sz="1400" b="1" dirty="0">
                <a:solidFill>
                  <a:schemeClr val="tx1"/>
                </a:solidFill>
                <a:latin typeface="Calibri" pitchFamily="34" charset="0"/>
                <a:ea typeface="Calibri" pitchFamily="34" charset="-122"/>
                <a:cs typeface="Calibri" pitchFamily="34" charset="-120"/>
              </a:rPr>
              <a:t>Keep a person in charge</a:t>
            </a:r>
            <a:endParaRPr lang="en-US" sz="1300" dirty="0"/>
          </a:p>
          <a:p>
            <a:pPr algn="l" indent="0" marL="0">
              <a:buNone/>
            </a:pPr>
            <a:r>
              <a:rPr lang="en-US" sz="1150" dirty="0">
                <a:solidFill>
                  <a:schemeClr val="accent3"/>
                </a:solidFill>
                <a:latin typeface="Calibri" pitchFamily="34" charset="0"/>
                <a:ea typeface="Calibri" pitchFamily="34" charset="-122"/>
                <a:cs typeface="Calibri" pitchFamily="34" charset="-120"/>
              </a:rPr>
              <a:t>A human planner approves the final plan</a:t>
            </a:r>
            <a:endParaRPr lang="en-US" sz="1300" dirty="0"/>
          </a:p>
        </p:txBody>
      </p:sp>
      <p:cxnSp>
        <p:nvCxnSpPr>
          <p:cNvPr id="17" name="Connector 16"/>
          <p:cNvCxnSpPr/>
          <p:nvPr/>
        </p:nvCxnSpPr>
        <p:spPr>
          <a:xfrm>
            <a:off x="5577840" y="2377440"/>
            <a:ext cx="3108960" cy="0"/>
          </a:xfrm>
          <a:prstGeom prst="line">
            <a:avLst/>
          </a:prstGeom>
          <a:ln w="6350">
            <a:solidFill>
              <a:schemeClr val="accent3"/>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5577840" y="3401568"/>
            <a:ext cx="3108960" cy="0"/>
          </a:xfrm>
          <a:prstGeom prst="line">
            <a:avLst/>
          </a:prstGeom>
          <a:ln w="6350">
            <a:solidFill>
              <a:schemeClr val="accent3"/>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548640"/>
          </a:xfrm>
          <a:prstGeom prst="rect">
            <a:avLst/>
          </a:prstGeom>
          <a:noFill/>
          <a:ln/>
        </p:spPr>
        <p:txBody>
          <a:bodyPr wrap="square" lIns="0" tIns="0" rIns="0" bIns="0" rtlCol="0" anchor="ctr"/>
          <a:lstStyle/>
          <a:p>
            <a:pPr algn="l" indent="0" marL="0">
              <a:buNone/>
            </a:pPr>
            <a:r>
              <a:rPr lang="en-US" sz="2600" b="1" dirty="0">
                <a:solidFill>
                  <a:schemeClr val="tx1"/>
                </a:solidFill>
                <a:latin typeface="Calibri" pitchFamily="34" charset="0"/>
                <a:ea typeface="Calibri" pitchFamily="34" charset="-122"/>
                <a:cs typeface="Calibri" pitchFamily="34" charset="-120"/>
              </a:rPr>
              <a:t>Domain details</a:t>
            </a:r>
            <a:endParaRPr lang="en-US" sz="2600" dirty="0"/>
          </a:p>
        </p:txBody>
      </p:sp>
      <p:sp>
        <p:nvSpPr>
          <p:cNvPr id="3" name="Text 1"/>
          <p:cNvSpPr txBox="1"/>
          <p:nvPr/>
        </p:nvSpPr>
        <p:spPr>
          <a:xfrm>
            <a:off x="457200" y="914400"/>
            <a:ext cx="5029200" cy="411480"/>
          </a:xfrm>
          <a:prstGeom prst="rect">
            <a:avLst/>
          </a:prstGeom>
          <a:noFill/>
          <a:ln/>
        </p:spPr>
        <p:txBody>
          <a:bodyPr wrap="square" lIns="0" tIns="0" rIns="0" bIns="0" rtlCol="0" anchor="t"/>
          <a:lstStyle/>
          <a:p>
            <a:pPr algn="l" indent="0" marL="0">
              <a:buNone/>
            </a:pPr>
            <a:r>
              <a:rPr lang="en-US" sz="1300" b="1" dirty="0">
                <a:solidFill>
                  <a:schemeClr val="accent1"/>
                </a:solidFill>
                <a:latin typeface="Calibri" pitchFamily="34" charset="0"/>
                <a:ea typeface="Calibri" pitchFamily="34" charset="-122"/>
                <a:cs typeface="Calibri" pitchFamily="34" charset="-120"/>
              </a:rPr>
              <a:t>Domain  </a:t>
            </a:r>
            <a:pPr algn="l" indent="0" marL="0">
              <a:buNone/>
            </a:pPr>
            <a:r>
              <a:rPr lang="en-US" sz="1300" dirty="0">
                <a:solidFill>
                  <a:schemeClr val="tx1"/>
                </a:solidFill>
                <a:latin typeface="Calibri" pitchFamily="34" charset="0"/>
                <a:ea typeface="Calibri" pitchFamily="34" charset="-122"/>
                <a:cs typeface="Calibri" pitchFamily="34" charset="-120"/>
              </a:rPr>
              <a:t>Business operations: manufacturing supply chain planning and workflow tracking.</a:t>
            </a:r>
            <a:endParaRPr lang="en-US" sz="1300" dirty="0"/>
          </a:p>
        </p:txBody>
      </p:sp>
      <p:sp>
        <p:nvSpPr>
          <p:cNvPr id="4" name="Text 2"/>
          <p:cNvSpPr txBox="1"/>
          <p:nvPr/>
        </p:nvSpPr>
        <p:spPr>
          <a:xfrm>
            <a:off x="457200" y="1444752"/>
            <a:ext cx="5029200" cy="566928"/>
          </a:xfrm>
          <a:prstGeom prst="rect">
            <a:avLst/>
          </a:prstGeom>
          <a:noFill/>
          <a:ln/>
        </p:spPr>
        <p:txBody>
          <a:bodyPr wrap="square" lIns="0" tIns="0" rIns="0" bIns="0" rtlCol="0" anchor="t"/>
          <a:lstStyle/>
          <a:p>
            <a:pPr algn="l" indent="0" marL="0">
              <a:buNone/>
            </a:pPr>
            <a:r>
              <a:rPr lang="en-US" sz="1300" b="1" dirty="0">
                <a:solidFill>
                  <a:schemeClr val="accent1"/>
                </a:solidFill>
                <a:latin typeface="Calibri" pitchFamily="34" charset="0"/>
                <a:ea typeface="Calibri" pitchFamily="34" charset="-122"/>
                <a:cs typeface="Calibri" pitchFamily="34" charset="-120"/>
              </a:rPr>
              <a:t>Setting  </a:t>
            </a:r>
            <a:pPr algn="l" indent="0" marL="0">
              <a:buNone/>
            </a:pPr>
            <a:r>
              <a:rPr lang="en-US" sz="1300" dirty="0">
                <a:solidFill>
                  <a:schemeClr val="tx1"/>
                </a:solidFill>
                <a:latin typeface="Calibri" pitchFamily="34" charset="0"/>
                <a:ea typeface="Calibri" pitchFamily="34" charset="-122"/>
                <a:cs typeface="Calibri" pitchFamily="34" charset="-120"/>
              </a:rPr>
              <a:t>A factory builds a few products from many parts. Each part comes from one or more suppliers, and every customer order has a due date.</a:t>
            </a:r>
            <a:endParaRPr lang="en-US" sz="1300" dirty="0"/>
          </a:p>
        </p:txBody>
      </p:sp>
      <p:sp>
        <p:nvSpPr>
          <p:cNvPr id="5" name="Text 3"/>
          <p:cNvSpPr txBox="1"/>
          <p:nvPr/>
        </p:nvSpPr>
        <p:spPr>
          <a:xfrm>
            <a:off x="457200" y="2084832"/>
            <a:ext cx="5029200" cy="512064"/>
          </a:xfrm>
          <a:prstGeom prst="rect">
            <a:avLst/>
          </a:prstGeom>
          <a:noFill/>
          <a:ln/>
        </p:spPr>
        <p:txBody>
          <a:bodyPr wrap="square" lIns="0" tIns="0" rIns="0" bIns="0" rtlCol="0" anchor="t"/>
          <a:lstStyle/>
          <a:p>
            <a:pPr algn="l" indent="0" marL="0">
              <a:buNone/>
            </a:pPr>
            <a:r>
              <a:rPr lang="en-US" sz="1300" b="1" dirty="0">
                <a:solidFill>
                  <a:schemeClr val="accent1"/>
                </a:solidFill>
                <a:latin typeface="Calibri" pitchFamily="34" charset="0"/>
                <a:ea typeface="Calibri" pitchFamily="34" charset="-122"/>
                <a:cs typeface="Calibri" pitchFamily="34" charset="-120"/>
              </a:rPr>
              <a:t>Why it suits agents  </a:t>
            </a:r>
            <a:pPr algn="l" indent="0" marL="0">
              <a:buNone/>
            </a:pPr>
            <a:r>
              <a:rPr lang="en-US" sz="1300" dirty="0">
                <a:solidFill>
                  <a:schemeClr val="tx1"/>
                </a:solidFill>
                <a:latin typeface="Calibri" pitchFamily="34" charset="0"/>
                <a:ea typeface="Calibri" pitchFamily="34" charset="-122"/>
                <a:cs typeface="Calibri" pitchFamily="34" charset="-120"/>
              </a:rPr>
              <a:t>The work has clear stages, a real calculation in the middle, and a result that can be checked against the data.</a:t>
            </a:r>
            <a:endParaRPr lang="en-US" sz="1300" dirty="0"/>
          </a:p>
        </p:txBody>
      </p:sp>
      <p:sp>
        <p:nvSpPr>
          <p:cNvPr id="7" name="Text 5"/>
          <p:cNvSpPr txBox="1"/>
          <p:nvPr/>
        </p:nvSpPr>
        <p:spPr>
          <a:xfrm>
            <a:off x="457200" y="2788920"/>
            <a:ext cx="2377440" cy="566928"/>
          </a:xfrm>
          <a:prstGeom prst="rect">
            <a:avLst/>
          </a:prstGeom>
          <a:noFill/>
          <a:ln/>
        </p:spPr>
        <p:txBody>
          <a:bodyPr wrap="square" lIns="0" tIns="0" rIns="0" bIns="0" rtlCol="0" anchor="t"/>
          <a:lstStyle/>
          <a:p>
            <a:pPr algn="l" indent="0" marL="0">
              <a:buNone/>
            </a:pPr>
            <a:r>
              <a:rPr lang="en-US" sz="1250" b="1" dirty="0">
                <a:solidFill>
                  <a:schemeClr val="tx1"/>
                </a:solidFill>
                <a:latin typeface="Calibri" pitchFamily="34" charset="0"/>
                <a:ea typeface="Calibri" pitchFamily="34" charset="-122"/>
                <a:cs typeface="Calibri" pitchFamily="34" charset="-120"/>
              </a:rPr>
              <a:t>Bill of materials (BOM)</a:t>
            </a:r>
            <a:endParaRPr lang="en-US" sz="1300" dirty="0"/>
          </a:p>
          <a:p>
            <a:pPr algn="l" indent="0" marL="0">
              <a:buNone/>
            </a:pPr>
            <a:r>
              <a:rPr lang="en-US" sz="1150" dirty="0">
                <a:solidFill>
                  <a:schemeClr val="accent3"/>
                </a:solidFill>
                <a:latin typeface="Calibri" pitchFamily="34" charset="0"/>
                <a:ea typeface="Calibri" pitchFamily="34" charset="-122"/>
                <a:cs typeface="Calibri" pitchFamily="34" charset="-120"/>
              </a:rPr>
              <a:t>Which parts go into which product, and how many.</a:t>
            </a:r>
            <a:endParaRPr lang="en-US" sz="1300" dirty="0"/>
          </a:p>
        </p:txBody>
      </p:sp>
      <p:sp>
        <p:nvSpPr>
          <p:cNvPr id="9" name="Text 7"/>
          <p:cNvSpPr txBox="1"/>
          <p:nvPr/>
        </p:nvSpPr>
        <p:spPr>
          <a:xfrm>
            <a:off x="3017520" y="2788920"/>
            <a:ext cx="2468880" cy="566928"/>
          </a:xfrm>
          <a:prstGeom prst="rect">
            <a:avLst/>
          </a:prstGeom>
          <a:noFill/>
          <a:ln/>
        </p:spPr>
        <p:txBody>
          <a:bodyPr wrap="square" lIns="0" tIns="0" rIns="0" bIns="0" rtlCol="0" anchor="t"/>
          <a:lstStyle/>
          <a:p>
            <a:pPr algn="l" indent="0" marL="0">
              <a:buNone/>
            </a:pPr>
            <a:r>
              <a:rPr lang="en-US" sz="1250" b="1" dirty="0">
                <a:solidFill>
                  <a:schemeClr val="tx1"/>
                </a:solidFill>
                <a:latin typeface="Calibri" pitchFamily="34" charset="0"/>
                <a:ea typeface="Calibri" pitchFamily="34" charset="-122"/>
                <a:cs typeface="Calibri" pitchFamily="34" charset="-120"/>
              </a:rPr>
              <a:t>Expediting</a:t>
            </a:r>
            <a:endParaRPr lang="en-US" sz="1300" dirty="0"/>
          </a:p>
          <a:p>
            <a:pPr algn="l" indent="0" marL="0">
              <a:buNone/>
            </a:pPr>
            <a:r>
              <a:rPr lang="en-US" sz="1150" dirty="0">
                <a:solidFill>
                  <a:schemeClr val="accent3"/>
                </a:solidFill>
                <a:latin typeface="Calibri" pitchFamily="34" charset="0"/>
                <a:ea typeface="Calibri" pitchFamily="34" charset="-122"/>
                <a:cs typeface="Calibri" pitchFamily="34" charset="-120"/>
              </a:rPr>
              <a:t>Paying extra to get a shipment faster.</a:t>
            </a:r>
            <a:endParaRPr lang="en-US" sz="1300" dirty="0"/>
          </a:p>
        </p:txBody>
      </p:sp>
      <p:sp>
        <p:nvSpPr>
          <p:cNvPr id="11" name="Text 9"/>
          <p:cNvSpPr txBox="1"/>
          <p:nvPr/>
        </p:nvSpPr>
        <p:spPr>
          <a:xfrm>
            <a:off x="457200" y="3520440"/>
            <a:ext cx="2377440" cy="566928"/>
          </a:xfrm>
          <a:prstGeom prst="rect">
            <a:avLst/>
          </a:prstGeom>
          <a:noFill/>
          <a:ln/>
        </p:spPr>
        <p:txBody>
          <a:bodyPr wrap="square" lIns="0" tIns="0" rIns="0" bIns="0" rtlCol="0" anchor="t"/>
          <a:lstStyle/>
          <a:p>
            <a:pPr algn="l" indent="0" marL="0">
              <a:buNone/>
            </a:pPr>
            <a:r>
              <a:rPr lang="en-US" sz="1250" b="1" dirty="0">
                <a:solidFill>
                  <a:schemeClr val="tx1"/>
                </a:solidFill>
                <a:latin typeface="Calibri" pitchFamily="34" charset="0"/>
                <a:ea typeface="Calibri" pitchFamily="34" charset="-122"/>
                <a:cs typeface="Calibri" pitchFamily="34" charset="-120"/>
              </a:rPr>
              <a:t>Backup supplier</a:t>
            </a:r>
            <a:endParaRPr lang="en-US" sz="1300" dirty="0"/>
          </a:p>
          <a:p>
            <a:pPr algn="l" indent="0" marL="0">
              <a:buNone/>
            </a:pPr>
            <a:r>
              <a:rPr lang="en-US" sz="1150" dirty="0">
                <a:solidFill>
                  <a:schemeClr val="accent3"/>
                </a:solidFill>
                <a:latin typeface="Calibri" pitchFamily="34" charset="0"/>
                <a:ea typeface="Calibri" pitchFamily="34" charset="-122"/>
                <a:cs typeface="Calibri" pitchFamily="34" charset="-120"/>
              </a:rPr>
              <a:t>An alternative source, usually at a higher price.</a:t>
            </a:r>
            <a:endParaRPr lang="en-US" sz="1300" dirty="0"/>
          </a:p>
        </p:txBody>
      </p:sp>
      <p:sp>
        <p:nvSpPr>
          <p:cNvPr id="13" name="Text 11"/>
          <p:cNvSpPr txBox="1"/>
          <p:nvPr/>
        </p:nvSpPr>
        <p:spPr>
          <a:xfrm>
            <a:off x="3017520" y="3520440"/>
            <a:ext cx="2468880" cy="566928"/>
          </a:xfrm>
          <a:prstGeom prst="rect">
            <a:avLst/>
          </a:prstGeom>
          <a:noFill/>
          <a:ln/>
        </p:spPr>
        <p:txBody>
          <a:bodyPr wrap="square" lIns="0" tIns="0" rIns="0" bIns="0" rtlCol="0" anchor="t"/>
          <a:lstStyle/>
          <a:p>
            <a:pPr algn="l" indent="0" marL="0">
              <a:buNone/>
            </a:pPr>
            <a:r>
              <a:rPr lang="en-US" sz="1250" b="1" dirty="0">
                <a:solidFill>
                  <a:schemeClr val="tx1"/>
                </a:solidFill>
                <a:latin typeface="Calibri" pitchFamily="34" charset="0"/>
                <a:ea typeface="Calibri" pitchFamily="34" charset="-122"/>
                <a:cs typeface="Calibri" pitchFamily="34" charset="-120"/>
              </a:rPr>
              <a:t>Shortfall</a:t>
            </a:r>
            <a:endParaRPr lang="en-US" sz="1300" dirty="0"/>
          </a:p>
          <a:p>
            <a:pPr algn="l" indent="0" marL="0">
              <a:buNone/>
            </a:pPr>
            <a:r>
              <a:rPr lang="en-US" sz="1150" dirty="0">
                <a:solidFill>
                  <a:schemeClr val="accent3"/>
                </a:solidFill>
                <a:latin typeface="Calibri" pitchFamily="34" charset="0"/>
                <a:ea typeface="Calibri" pitchFamily="34" charset="-122"/>
                <a:cs typeface="Calibri" pitchFamily="34" charset="-120"/>
              </a:rPr>
              <a:t>How many units an order is missing.</a:t>
            </a:r>
            <a:endParaRPr lang="en-US" sz="1300" dirty="0"/>
          </a:p>
        </p:txBody>
      </p:sp>
      <p:sp>
        <p:nvSpPr>
          <p:cNvPr id="15" name="Text 13"/>
          <p:cNvSpPr txBox="1"/>
          <p:nvPr/>
        </p:nvSpPr>
        <p:spPr>
          <a:xfrm>
            <a:off x="457200" y="4334256"/>
            <a:ext cx="5029200" cy="457200"/>
          </a:xfrm>
          <a:prstGeom prst="rect">
            <a:avLst/>
          </a:prstGeom>
          <a:noFill/>
          <a:ln/>
        </p:spPr>
        <p:txBody>
          <a:bodyPr wrap="square" lIns="0" tIns="0" rIns="0" bIns="0" rtlCol="0" anchor="ctr"/>
          <a:lstStyle/>
          <a:p>
            <a:pPr algn="l" indent="0" marL="0">
              <a:buNone/>
            </a:pPr>
            <a:r>
              <a:rPr lang="en-US" sz="1200" b="1" dirty="0">
                <a:solidFill>
                  <a:schemeClr val="accent1"/>
                </a:solidFill>
                <a:latin typeface="Calibri" pitchFamily="34" charset="0"/>
                <a:ea typeface="Calibri" pitchFamily="34" charset="-122"/>
                <a:cs typeface="Calibri" pitchFamily="34" charset="-120"/>
              </a:rPr>
              <a:t>Scope  </a:t>
            </a:r>
            <a:pPr algn="l" indent="0" marL="0">
              <a:buNone/>
            </a:pPr>
            <a:r>
              <a:rPr lang="en-US" sz="1200" dirty="0">
                <a:solidFill>
                  <a:schemeClr val="tx1"/>
                </a:solidFill>
                <a:latin typeface="Calibri" pitchFamily="34" charset="0"/>
                <a:ea typeface="Calibri" pitchFamily="34" charset="-122"/>
                <a:cs typeface="Calibri" pitchFamily="34" charset="-120"/>
              </a:rPr>
              <a:t>All data is synthetic, generated by our own script (see the last slide). A human planner approves every plan.</a:t>
            </a:r>
            <a:endParaRPr lang="en-US" sz="1200" dirty="0"/>
          </a:p>
        </p:txBody>
      </p:sp>
      <p:sp>
        <p:nvSpPr>
          <p:cNvPr id="17" name="Text 15"/>
          <p:cNvSpPr txBox="1"/>
          <p:nvPr/>
        </p:nvSpPr>
        <p:spPr>
          <a:xfrm>
            <a:off x="5760720" y="1078992"/>
            <a:ext cx="2926080" cy="274320"/>
          </a:xfrm>
          <a:prstGeom prst="rect">
            <a:avLst/>
          </a:prstGeom>
          <a:noFill/>
          <a:ln/>
        </p:spPr>
        <p:txBody>
          <a:bodyPr wrap="square" lIns="0" tIns="0" rIns="0" bIns="0" rtlCol="0" anchor="t"/>
          <a:lstStyle/>
          <a:p>
            <a:pPr algn="ctr" indent="0" marL="0">
              <a:buNone/>
            </a:pPr>
            <a:r>
              <a:rPr lang="en-US" sz="1250" b="1" dirty="0">
                <a:solidFill>
                  <a:schemeClr val="tx1"/>
                </a:solidFill>
                <a:latin typeface="Calibri" pitchFamily="34" charset="0"/>
                <a:ea typeface="Calibri" pitchFamily="34" charset="-122"/>
                <a:cs typeface="Calibri" pitchFamily="34" charset="-120"/>
              </a:rPr>
              <a:t>How one late part spreads</a:t>
            </a:r>
            <a:endParaRPr lang="en-US" sz="1250" dirty="0"/>
          </a:p>
        </p:txBody>
      </p:sp>
      <p:sp>
        <p:nvSpPr>
          <p:cNvPr id="18" name="Shape 16"/>
          <p:cNvSpPr/>
          <p:nvPr/>
        </p:nvSpPr>
        <p:spPr>
          <a:xfrm>
            <a:off x="6400800" y="1463040"/>
            <a:ext cx="1645920" cy="384048"/>
          </a:xfrm>
          <a:prstGeom prst="roundRect">
            <a:avLst>
              <a:gd name="adj" fmla="val 14286"/>
            </a:avLst>
          </a:prstGeom>
          <a:solidFill>
            <a:schemeClr val="accent5"/>
          </a:solidFill>
          <a:ln w="19050">
            <a:solidFill>
              <a:schemeClr val="accent2"/>
            </a:solidFill>
            <a:prstDash val="solid"/>
          </a:ln>
        </p:spPr>
      </p:sp>
      <p:sp>
        <p:nvSpPr>
          <p:cNvPr id="19" name="Text 17"/>
          <p:cNvSpPr txBox="1"/>
          <p:nvPr/>
        </p:nvSpPr>
        <p:spPr>
          <a:xfrm>
            <a:off x="6400800" y="1463040"/>
            <a:ext cx="1645920" cy="384048"/>
          </a:xfrm>
          <a:prstGeom prst="rect">
            <a:avLst/>
          </a:prstGeom>
          <a:noFill/>
          <a:ln/>
        </p:spPr>
        <p:txBody>
          <a:bodyPr wrap="square" lIns="0" tIns="0" rIns="0" bIns="0" rtlCol="0" anchor="ctr"/>
          <a:lstStyle/>
          <a:p>
            <a:pPr algn="ctr" indent="0" marL="0">
              <a:buNone/>
            </a:pPr>
            <a:r>
              <a:rPr lang="en-US" sz="1100" b="1" dirty="0">
                <a:solidFill>
                  <a:schemeClr val="accent2"/>
                </a:solidFill>
                <a:latin typeface="Calibri" pitchFamily="34" charset="0"/>
                <a:ea typeface="Calibri" pitchFamily="34" charset="-122"/>
                <a:cs typeface="Calibri" pitchFamily="34" charset="-120"/>
              </a:rPr>
              <a:t>Part arrives late</a:t>
            </a:r>
            <a:endParaRPr lang="en-US" sz="1100" dirty="0"/>
          </a:p>
        </p:txBody>
      </p:sp>
      <p:sp>
        <p:nvSpPr>
          <p:cNvPr id="20" name="Shape 18"/>
          <p:cNvSpPr/>
          <p:nvPr/>
        </p:nvSpPr>
        <p:spPr>
          <a:xfrm>
            <a:off x="5897880" y="2331720"/>
            <a:ext cx="1143000" cy="365760"/>
          </a:xfrm>
          <a:prstGeom prst="roundRect">
            <a:avLst>
              <a:gd name="adj" fmla="val 15000"/>
            </a:avLst>
          </a:prstGeom>
          <a:solidFill>
            <a:schemeClr val="bg1"/>
          </a:solidFill>
          <a:ln w="19050">
            <a:solidFill>
              <a:schemeClr val="accent1"/>
            </a:solidFill>
            <a:prstDash val="solid"/>
          </a:ln>
        </p:spPr>
      </p:sp>
      <p:sp>
        <p:nvSpPr>
          <p:cNvPr id="21" name="Text 19"/>
          <p:cNvSpPr txBox="1"/>
          <p:nvPr/>
        </p:nvSpPr>
        <p:spPr>
          <a:xfrm>
            <a:off x="5897880" y="2331720"/>
            <a:ext cx="1143000" cy="365760"/>
          </a:xfrm>
          <a:prstGeom prst="rect">
            <a:avLst/>
          </a:prstGeom>
          <a:noFill/>
          <a:ln/>
        </p:spPr>
        <p:txBody>
          <a:bodyPr wrap="square" lIns="0" tIns="0" rIns="0" bIns="0" rtlCol="0" anchor="ctr"/>
          <a:lstStyle/>
          <a:p>
            <a:pPr algn="ctr" indent="0" marL="0">
              <a:buNone/>
            </a:pPr>
            <a:r>
              <a:rPr lang="en-US" sz="1100" b="1" dirty="0">
                <a:solidFill>
                  <a:schemeClr val="tx1"/>
                </a:solidFill>
                <a:latin typeface="Calibri" pitchFamily="34" charset="0"/>
                <a:ea typeface="Calibri" pitchFamily="34" charset="-122"/>
                <a:cs typeface="Calibri" pitchFamily="34" charset="-120"/>
              </a:rPr>
              <a:t>Product A</a:t>
            </a:r>
            <a:endParaRPr lang="en-US" sz="1100" dirty="0"/>
          </a:p>
        </p:txBody>
      </p:sp>
      <p:sp>
        <p:nvSpPr>
          <p:cNvPr id="22" name="Shape 20"/>
          <p:cNvSpPr/>
          <p:nvPr/>
        </p:nvSpPr>
        <p:spPr>
          <a:xfrm>
            <a:off x="7406640" y="2331720"/>
            <a:ext cx="1143000" cy="365760"/>
          </a:xfrm>
          <a:prstGeom prst="roundRect">
            <a:avLst>
              <a:gd name="adj" fmla="val 15000"/>
            </a:avLst>
          </a:prstGeom>
          <a:solidFill>
            <a:schemeClr val="bg1"/>
          </a:solidFill>
          <a:ln w="19050">
            <a:solidFill>
              <a:schemeClr val="accent1"/>
            </a:solidFill>
            <a:prstDash val="solid"/>
          </a:ln>
        </p:spPr>
      </p:sp>
      <p:sp>
        <p:nvSpPr>
          <p:cNvPr id="23" name="Text 21"/>
          <p:cNvSpPr txBox="1"/>
          <p:nvPr/>
        </p:nvSpPr>
        <p:spPr>
          <a:xfrm>
            <a:off x="7406640" y="2331720"/>
            <a:ext cx="1143000" cy="365760"/>
          </a:xfrm>
          <a:prstGeom prst="rect">
            <a:avLst/>
          </a:prstGeom>
          <a:noFill/>
          <a:ln/>
        </p:spPr>
        <p:txBody>
          <a:bodyPr wrap="square" lIns="0" tIns="0" rIns="0" bIns="0" rtlCol="0" anchor="ctr"/>
          <a:lstStyle/>
          <a:p>
            <a:pPr algn="ctr" indent="0" marL="0">
              <a:buNone/>
            </a:pPr>
            <a:r>
              <a:rPr lang="en-US" sz="1100" b="1" dirty="0">
                <a:solidFill>
                  <a:schemeClr val="tx1"/>
                </a:solidFill>
                <a:latin typeface="Calibri" pitchFamily="34" charset="0"/>
                <a:ea typeface="Calibri" pitchFamily="34" charset="-122"/>
                <a:cs typeface="Calibri" pitchFamily="34" charset="-120"/>
              </a:rPr>
              <a:t>Product B</a:t>
            </a:r>
            <a:endParaRPr lang="en-US" sz="1100" dirty="0"/>
          </a:p>
        </p:txBody>
      </p:sp>
      <p:sp>
        <p:nvSpPr>
          <p:cNvPr id="24" name="Shape 22"/>
          <p:cNvSpPr/>
          <p:nvPr/>
        </p:nvSpPr>
        <p:spPr>
          <a:xfrm flipH="1">
            <a:off x="6473952" y="1847088"/>
            <a:ext cx="475488" cy="484632"/>
          </a:xfrm>
          <a:prstGeom prst="line">
            <a:avLst/>
          </a:prstGeom>
          <a:noFill/>
          <a:ln w="19050">
            <a:solidFill>
              <a:schemeClr val="accent3"/>
            </a:solidFill>
            <a:prstDash val="solid"/>
            <a:tailEnd type="triangle"/>
          </a:ln>
        </p:spPr>
      </p:sp>
      <p:sp>
        <p:nvSpPr>
          <p:cNvPr id="25" name="Shape 23"/>
          <p:cNvSpPr/>
          <p:nvPr/>
        </p:nvSpPr>
        <p:spPr>
          <a:xfrm>
            <a:off x="7498080" y="1847088"/>
            <a:ext cx="475488" cy="484632"/>
          </a:xfrm>
          <a:prstGeom prst="line">
            <a:avLst/>
          </a:prstGeom>
          <a:noFill/>
          <a:ln w="19050">
            <a:solidFill>
              <a:schemeClr val="accent3"/>
            </a:solidFill>
            <a:prstDash val="solid"/>
            <a:tailEnd type="triangle"/>
          </a:ln>
        </p:spPr>
      </p:sp>
      <p:sp>
        <p:nvSpPr>
          <p:cNvPr id="26" name="Shape 24"/>
          <p:cNvSpPr/>
          <p:nvPr/>
        </p:nvSpPr>
        <p:spPr>
          <a:xfrm>
            <a:off x="5852160" y="3200400"/>
            <a:ext cx="777240" cy="365760"/>
          </a:xfrm>
          <a:prstGeom prst="roundRect">
            <a:avLst>
              <a:gd name="adj" fmla="val 15000"/>
            </a:avLst>
          </a:prstGeom>
          <a:solidFill>
            <a:schemeClr val="accent5"/>
          </a:solidFill>
          <a:ln w="19050">
            <a:solidFill>
              <a:schemeClr val="accent2"/>
            </a:solidFill>
            <a:prstDash val="solid"/>
          </a:ln>
        </p:spPr>
      </p:sp>
      <p:sp>
        <p:nvSpPr>
          <p:cNvPr id="27" name="Text 25"/>
          <p:cNvSpPr txBox="1"/>
          <p:nvPr/>
        </p:nvSpPr>
        <p:spPr>
          <a:xfrm>
            <a:off x="5852160" y="3200400"/>
            <a:ext cx="777240" cy="365760"/>
          </a:xfrm>
          <a:prstGeom prst="rect">
            <a:avLst/>
          </a:prstGeom>
          <a:noFill/>
          <a:ln/>
        </p:spPr>
        <p:txBody>
          <a:bodyPr wrap="square" lIns="0" tIns="0" rIns="0" bIns="0" rtlCol="0" anchor="ctr"/>
          <a:lstStyle/>
          <a:p>
            <a:pPr algn="ctr" indent="0" marL="0">
              <a:buNone/>
            </a:pPr>
            <a:r>
              <a:rPr lang="en-US" sz="1100" b="1" dirty="0">
                <a:solidFill>
                  <a:schemeClr val="accent2"/>
                </a:solidFill>
                <a:latin typeface="Calibri" pitchFamily="34" charset="0"/>
                <a:ea typeface="Calibri" pitchFamily="34" charset="-122"/>
                <a:cs typeface="Calibri" pitchFamily="34" charset="-120"/>
              </a:rPr>
              <a:t>Order 1</a:t>
            </a:r>
            <a:endParaRPr lang="en-US" sz="1100" dirty="0"/>
          </a:p>
        </p:txBody>
      </p:sp>
      <p:sp>
        <p:nvSpPr>
          <p:cNvPr id="28" name="Shape 26"/>
          <p:cNvSpPr/>
          <p:nvPr/>
        </p:nvSpPr>
        <p:spPr>
          <a:xfrm>
            <a:off x="6766560" y="3200400"/>
            <a:ext cx="777240" cy="365760"/>
          </a:xfrm>
          <a:prstGeom prst="roundRect">
            <a:avLst>
              <a:gd name="adj" fmla="val 15000"/>
            </a:avLst>
          </a:prstGeom>
          <a:solidFill>
            <a:schemeClr val="accent5"/>
          </a:solidFill>
          <a:ln w="19050">
            <a:solidFill>
              <a:schemeClr val="accent2"/>
            </a:solidFill>
            <a:prstDash val="solid"/>
          </a:ln>
        </p:spPr>
      </p:sp>
      <p:sp>
        <p:nvSpPr>
          <p:cNvPr id="29" name="Text 27"/>
          <p:cNvSpPr txBox="1"/>
          <p:nvPr/>
        </p:nvSpPr>
        <p:spPr>
          <a:xfrm>
            <a:off x="6766560" y="3200400"/>
            <a:ext cx="777240" cy="365760"/>
          </a:xfrm>
          <a:prstGeom prst="rect">
            <a:avLst/>
          </a:prstGeom>
          <a:noFill/>
          <a:ln/>
        </p:spPr>
        <p:txBody>
          <a:bodyPr wrap="square" lIns="0" tIns="0" rIns="0" bIns="0" rtlCol="0" anchor="ctr"/>
          <a:lstStyle/>
          <a:p>
            <a:pPr algn="ctr" indent="0" marL="0">
              <a:buNone/>
            </a:pPr>
            <a:r>
              <a:rPr lang="en-US" sz="1100" b="1" dirty="0">
                <a:solidFill>
                  <a:schemeClr val="accent2"/>
                </a:solidFill>
                <a:latin typeface="Calibri" pitchFamily="34" charset="0"/>
                <a:ea typeface="Calibri" pitchFamily="34" charset="-122"/>
                <a:cs typeface="Calibri" pitchFamily="34" charset="-120"/>
              </a:rPr>
              <a:t>Order 2</a:t>
            </a:r>
            <a:endParaRPr lang="en-US" sz="1100" dirty="0"/>
          </a:p>
        </p:txBody>
      </p:sp>
      <p:sp>
        <p:nvSpPr>
          <p:cNvPr id="30" name="Shape 28"/>
          <p:cNvSpPr/>
          <p:nvPr/>
        </p:nvSpPr>
        <p:spPr>
          <a:xfrm>
            <a:off x="7772400" y="3200400"/>
            <a:ext cx="777240" cy="365760"/>
          </a:xfrm>
          <a:prstGeom prst="roundRect">
            <a:avLst>
              <a:gd name="adj" fmla="val 15000"/>
            </a:avLst>
          </a:prstGeom>
          <a:solidFill>
            <a:schemeClr val="accent5"/>
          </a:solidFill>
          <a:ln w="19050">
            <a:solidFill>
              <a:schemeClr val="accent2"/>
            </a:solidFill>
            <a:prstDash val="solid"/>
          </a:ln>
        </p:spPr>
      </p:sp>
      <p:sp>
        <p:nvSpPr>
          <p:cNvPr id="31" name="Text 29"/>
          <p:cNvSpPr txBox="1"/>
          <p:nvPr/>
        </p:nvSpPr>
        <p:spPr>
          <a:xfrm>
            <a:off x="7772400" y="3200400"/>
            <a:ext cx="777240" cy="365760"/>
          </a:xfrm>
          <a:prstGeom prst="rect">
            <a:avLst/>
          </a:prstGeom>
          <a:noFill/>
          <a:ln/>
        </p:spPr>
        <p:txBody>
          <a:bodyPr wrap="square" lIns="0" tIns="0" rIns="0" bIns="0" rtlCol="0" anchor="ctr"/>
          <a:lstStyle/>
          <a:p>
            <a:pPr algn="ctr" indent="0" marL="0">
              <a:buNone/>
            </a:pPr>
            <a:r>
              <a:rPr lang="en-US" sz="1100" b="1" dirty="0">
                <a:solidFill>
                  <a:schemeClr val="accent2"/>
                </a:solidFill>
                <a:latin typeface="Calibri" pitchFamily="34" charset="0"/>
                <a:ea typeface="Calibri" pitchFamily="34" charset="-122"/>
                <a:cs typeface="Calibri" pitchFamily="34" charset="-120"/>
              </a:rPr>
              <a:t>Order 3</a:t>
            </a:r>
            <a:endParaRPr lang="en-US" sz="1100" dirty="0"/>
          </a:p>
        </p:txBody>
      </p:sp>
      <p:sp>
        <p:nvSpPr>
          <p:cNvPr id="32" name="Shape 30"/>
          <p:cNvSpPr/>
          <p:nvPr/>
        </p:nvSpPr>
        <p:spPr>
          <a:xfrm flipH="1">
            <a:off x="6245352" y="2697480"/>
            <a:ext cx="155448" cy="502920"/>
          </a:xfrm>
          <a:prstGeom prst="line">
            <a:avLst/>
          </a:prstGeom>
          <a:noFill/>
          <a:ln w="19050">
            <a:solidFill>
              <a:schemeClr val="accent3"/>
            </a:solidFill>
            <a:prstDash val="solid"/>
            <a:tailEnd type="triangle"/>
          </a:ln>
        </p:spPr>
      </p:sp>
      <p:sp>
        <p:nvSpPr>
          <p:cNvPr id="33" name="Shape 31"/>
          <p:cNvSpPr/>
          <p:nvPr/>
        </p:nvSpPr>
        <p:spPr>
          <a:xfrm>
            <a:off x="6583680" y="2697480"/>
            <a:ext cx="576072" cy="502920"/>
          </a:xfrm>
          <a:prstGeom prst="line">
            <a:avLst/>
          </a:prstGeom>
          <a:noFill/>
          <a:ln w="19050">
            <a:solidFill>
              <a:schemeClr val="accent3"/>
            </a:solidFill>
            <a:prstDash val="solid"/>
            <a:tailEnd type="triangle"/>
          </a:ln>
        </p:spPr>
      </p:sp>
      <p:sp>
        <p:nvSpPr>
          <p:cNvPr id="34" name="Shape 32"/>
          <p:cNvSpPr/>
          <p:nvPr/>
        </p:nvSpPr>
        <p:spPr>
          <a:xfrm>
            <a:off x="7973568" y="2697480"/>
            <a:ext cx="182880" cy="502920"/>
          </a:xfrm>
          <a:prstGeom prst="line">
            <a:avLst/>
          </a:prstGeom>
          <a:noFill/>
          <a:ln w="19050">
            <a:solidFill>
              <a:schemeClr val="accent3"/>
            </a:solidFill>
            <a:prstDash val="solid"/>
            <a:tailEnd type="triangle"/>
          </a:ln>
        </p:spPr>
      </p:sp>
      <p:sp>
        <p:nvSpPr>
          <p:cNvPr id="35" name="Text 33"/>
          <p:cNvSpPr txBox="1"/>
          <p:nvPr/>
        </p:nvSpPr>
        <p:spPr>
          <a:xfrm>
            <a:off x="5897880" y="3749040"/>
            <a:ext cx="2651760" cy="777240"/>
          </a:xfrm>
          <a:prstGeom prst="rect">
            <a:avLst/>
          </a:prstGeom>
          <a:noFill/>
          <a:ln/>
        </p:spPr>
        <p:txBody>
          <a:bodyPr wrap="square" lIns="0" tIns="0" rIns="0" bIns="0" rtlCol="0" anchor="t"/>
          <a:lstStyle/>
          <a:p>
            <a:pPr algn="l" indent="0" marL="0">
              <a:buNone/>
            </a:pPr>
            <a:r>
              <a:rPr lang="en-US" sz="1100" dirty="0">
                <a:solidFill>
                  <a:schemeClr val="accent3"/>
                </a:solidFill>
                <a:latin typeface="Calibri" pitchFamily="34" charset="0"/>
                <a:ea typeface="Calibri" pitchFamily="34" charset="-122"/>
                <a:cs typeface="Calibri" pitchFamily="34" charset="-120"/>
              </a:rPr>
              <a:t>One late part holds up every product that uses it, and every order waiting on those products.</a:t>
            </a:r>
            <a:endParaRPr lang="en-US" sz="1100" dirty="0"/>
          </a:p>
        </p:txBody>
      </p:sp>
      <p:cxnSp>
        <p:nvCxnSpPr>
          <p:cNvPr id="36" name="Connector 35"/>
          <p:cNvCxnSpPr/>
          <p:nvPr/>
        </p:nvCxnSpPr>
        <p:spPr>
          <a:xfrm>
            <a:off x="457200" y="2670048"/>
            <a:ext cx="5029200" cy="0"/>
          </a:xfrm>
          <a:prstGeom prst="line">
            <a:avLst/>
          </a:prstGeom>
          <a:ln w="6350">
            <a:solidFill>
              <a:schemeClr val="accent3"/>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457200" y="4206240"/>
            <a:ext cx="5029200" cy="0"/>
          </a:xfrm>
          <a:prstGeom prst="line">
            <a:avLst/>
          </a:prstGeom>
          <a:ln w="6350">
            <a:solidFill>
              <a:schemeClr val="accent3"/>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548640"/>
          </a:xfrm>
          <a:prstGeom prst="rect">
            <a:avLst/>
          </a:prstGeom>
          <a:noFill/>
          <a:ln/>
        </p:spPr>
        <p:txBody>
          <a:bodyPr wrap="square" lIns="0" tIns="0" rIns="0" bIns="0" rtlCol="0" anchor="ctr"/>
          <a:lstStyle/>
          <a:p>
            <a:pPr algn="l" indent="0" marL="0">
              <a:buNone/>
            </a:pPr>
            <a:r>
              <a:rPr lang="en-US" sz="2600" b="1" dirty="0">
                <a:solidFill>
                  <a:schemeClr val="tx1"/>
                </a:solidFill>
                <a:latin typeface="Calibri" pitchFamily="34" charset="0"/>
                <a:ea typeface="Calibri" pitchFamily="34" charset="-122"/>
                <a:cs typeface="Calibri" pitchFamily="34" charset="-120"/>
              </a:rPr>
              <a:t>Current process and challenge</a:t>
            </a:r>
            <a:endParaRPr lang="en-US" sz="2600" dirty="0"/>
          </a:p>
        </p:txBody>
      </p:sp>
      <p:sp>
        <p:nvSpPr>
          <p:cNvPr id="3" name="Text 1"/>
          <p:cNvSpPr txBox="1"/>
          <p:nvPr/>
        </p:nvSpPr>
        <p:spPr>
          <a:xfrm>
            <a:off x="457200" y="822960"/>
            <a:ext cx="8229600" cy="274320"/>
          </a:xfrm>
          <a:prstGeom prst="rect">
            <a:avLst/>
          </a:prstGeom>
          <a:noFill/>
          <a:ln/>
        </p:spPr>
        <p:txBody>
          <a:bodyPr wrap="square" lIns="0" tIns="0" rIns="0" bIns="0" rtlCol="0" anchor="t"/>
          <a:lstStyle/>
          <a:p>
            <a:pPr algn="l" indent="0" marL="0">
              <a:buNone/>
            </a:pPr>
            <a:r>
              <a:rPr lang="en-US" sz="1300" dirty="0">
                <a:solidFill>
                  <a:schemeClr val="accent3"/>
                </a:solidFill>
                <a:latin typeface="Calibri" pitchFamily="34" charset="0"/>
                <a:ea typeface="Calibri" pitchFamily="34" charset="-122"/>
                <a:cs typeface="Calibri" pitchFamily="34" charset="-120"/>
              </a:rPr>
              <a:t>How a planner handles a late supplier today. Steps 2 to 6 cost the most time.</a:t>
            </a:r>
            <a:endParaRPr lang="en-US" sz="1300" dirty="0"/>
          </a:p>
        </p:txBody>
      </p:sp>
      <p:sp>
        <p:nvSpPr>
          <p:cNvPr id="6" name="Text 4"/>
          <p:cNvSpPr txBox="1"/>
          <p:nvPr/>
        </p:nvSpPr>
        <p:spPr>
          <a:xfrm>
            <a:off x="457200" y="1691640"/>
            <a:ext cx="2560320" cy="1097280"/>
          </a:xfrm>
          <a:prstGeom prst="rect">
            <a:avLst/>
          </a:prstGeom>
          <a:noFill/>
          <a:ln/>
        </p:spPr>
        <p:txBody>
          <a:bodyPr wrap="square" lIns="0" tIns="0" rIns="0" bIns="0" rtlCol="0" anchor="t"/>
          <a:lstStyle/>
          <a:p>
            <a:pPr algn="l" indent="-274320" marL="274320">
              <a:buNone/>
            </a:pPr>
            <a:r>
              <a:rPr lang="en-US" sz="1500" dirty="0" b="1">
                <a:solidFill>
                  <a:schemeClr val="accent1"/>
                </a:solidFill>
                <a:latin typeface="Calibri" pitchFamily="34" charset="0"/>
                <a:ea typeface="Calibri" pitchFamily="34" charset="-122"/>
                <a:cs typeface="Calibri" pitchFamily="34" charset="-120"/>
              </a:rPr>
              <a:t>1	</a:t>
            </a:r>
            <a:r>
              <a:rPr lang="en-US" sz="1500" dirty="0">
                <a:solidFill>
                  <a:schemeClr val="tx1"/>
                </a:solidFill>
                <a:latin typeface="Calibri" pitchFamily="34" charset="0"/>
                <a:ea typeface="Calibri" pitchFamily="34" charset="-122"/>
                <a:cs typeface="Calibri" pitchFamily="34" charset="-120"/>
              </a:rPr>
              <a:t>The alert arrives as an email or portal note, and someone retypes it</a:t>
            </a:r>
            <a:endParaRPr lang="en-US" sz="1250" dirty="0"/>
          </a:p>
        </p:txBody>
      </p:sp>
      <p:sp>
        <p:nvSpPr>
          <p:cNvPr id="9" name="Text 7"/>
          <p:cNvSpPr txBox="1"/>
          <p:nvPr/>
        </p:nvSpPr>
        <p:spPr>
          <a:xfrm>
            <a:off x="3246120" y="1691640"/>
            <a:ext cx="2560320" cy="1097280"/>
          </a:xfrm>
          <a:prstGeom prst="rect">
            <a:avLst/>
          </a:prstGeom>
          <a:noFill/>
          <a:ln/>
        </p:spPr>
        <p:txBody>
          <a:bodyPr wrap="square" lIns="0" tIns="0" rIns="0" bIns="0" rtlCol="0" anchor="t"/>
          <a:lstStyle/>
          <a:p>
            <a:pPr algn="l" indent="-274320" marL="274320">
              <a:buNone/>
            </a:pPr>
            <a:r>
              <a:rPr lang="en-US" sz="1500" dirty="0" b="1">
                <a:solidFill>
                  <a:schemeClr val="accent1"/>
                </a:solidFill>
                <a:latin typeface="Calibri" pitchFamily="34" charset="0"/>
                <a:ea typeface="Calibri" pitchFamily="34" charset="-122"/>
                <a:cs typeface="Calibri" pitchFamily="34" charset="-120"/>
              </a:rPr>
              <a:t>2	</a:t>
            </a:r>
            <a:r>
              <a:rPr lang="en-US" sz="1500" dirty="0">
                <a:solidFill>
                  <a:schemeClr val="tx1"/>
                </a:solidFill>
                <a:latin typeface="Calibri" pitchFamily="34" charset="0"/>
                <a:ea typeface="Calibri" pitchFamily="34" charset="-122"/>
                <a:cs typeface="Calibri" pitchFamily="34" charset="-120"/>
              </a:rPr>
              <a:t>The planner traces the part through the BOM by hand to find affected orders</a:t>
            </a:r>
            <a:endParaRPr lang="en-US" sz="1250" dirty="0"/>
          </a:p>
        </p:txBody>
      </p:sp>
      <p:sp>
        <p:nvSpPr>
          <p:cNvPr id="12" name="Text 10"/>
          <p:cNvSpPr txBox="1"/>
          <p:nvPr/>
        </p:nvSpPr>
        <p:spPr>
          <a:xfrm>
            <a:off x="6035040" y="1691640"/>
            <a:ext cx="2560320" cy="1097280"/>
          </a:xfrm>
          <a:prstGeom prst="rect">
            <a:avLst/>
          </a:prstGeom>
          <a:noFill/>
          <a:ln/>
        </p:spPr>
        <p:txBody>
          <a:bodyPr wrap="square" lIns="0" tIns="0" rIns="0" bIns="0" rtlCol="0" anchor="t"/>
          <a:lstStyle/>
          <a:p>
            <a:pPr algn="l" indent="-274320" marL="274320">
              <a:buNone/>
            </a:pPr>
            <a:r>
              <a:rPr lang="en-US" sz="1500" dirty="0" b="1">
                <a:solidFill>
                  <a:schemeClr val="accent1"/>
                </a:solidFill>
                <a:latin typeface="Calibri" pitchFamily="34" charset="0"/>
                <a:ea typeface="Calibri" pitchFamily="34" charset="-122"/>
                <a:cs typeface="Calibri" pitchFamily="34" charset="-120"/>
              </a:rPr>
              <a:t>3	</a:t>
            </a:r>
            <a:r>
              <a:rPr lang="en-US" sz="1500" dirty="0">
                <a:solidFill>
                  <a:schemeClr val="tx1"/>
                </a:solidFill>
                <a:latin typeface="Calibri" pitchFamily="34" charset="0"/>
                <a:ea typeface="Calibri" pitchFamily="34" charset="-122"/>
                <a:cs typeface="Calibri" pitchFamily="34" charset="-120"/>
              </a:rPr>
              <a:t>Stock, backup suppliers and expedite options are looked up one at a time</a:t>
            </a:r>
            <a:endParaRPr lang="en-US" sz="1250" dirty="0"/>
          </a:p>
        </p:txBody>
      </p:sp>
      <p:sp>
        <p:nvSpPr>
          <p:cNvPr id="15" name="Text 13"/>
          <p:cNvSpPr txBox="1"/>
          <p:nvPr/>
        </p:nvSpPr>
        <p:spPr>
          <a:xfrm>
            <a:off x="457200" y="3291840"/>
            <a:ext cx="2560320" cy="1097280"/>
          </a:xfrm>
          <a:prstGeom prst="rect">
            <a:avLst/>
          </a:prstGeom>
          <a:noFill/>
          <a:ln/>
        </p:spPr>
        <p:txBody>
          <a:bodyPr wrap="square" lIns="0" tIns="0" rIns="0" bIns="0" rtlCol="0" anchor="t"/>
          <a:lstStyle/>
          <a:p>
            <a:pPr algn="l" indent="-274320" marL="274320">
              <a:buNone/>
            </a:pPr>
            <a:r>
              <a:rPr lang="en-US" sz="1500" dirty="0" b="1">
                <a:solidFill>
                  <a:schemeClr val="accent1"/>
                </a:solidFill>
                <a:latin typeface="Calibri" pitchFamily="34" charset="0"/>
                <a:ea typeface="Calibri" pitchFamily="34" charset="-122"/>
                <a:cs typeface="Calibri" pitchFamily="34" charset="-120"/>
              </a:rPr>
              <a:t>4	</a:t>
            </a:r>
            <a:r>
              <a:rPr lang="en-US" sz="1500" dirty="0">
                <a:solidFill>
                  <a:schemeClr val="tx1"/>
                </a:solidFill>
                <a:latin typeface="Calibri" pitchFamily="34" charset="0"/>
                <a:ea typeface="Calibri" pitchFamily="34" charset="-122"/>
                <a:cs typeface="Calibri" pitchFamily="34" charset="-120"/>
              </a:rPr>
              <a:t>A plan is chosen, often the first workable one</a:t>
            </a:r>
            <a:endParaRPr lang="en-US" sz="1250" dirty="0"/>
          </a:p>
        </p:txBody>
      </p:sp>
      <p:sp>
        <p:nvSpPr>
          <p:cNvPr id="18" name="Text 16"/>
          <p:cNvSpPr txBox="1"/>
          <p:nvPr/>
        </p:nvSpPr>
        <p:spPr>
          <a:xfrm>
            <a:off x="3246120" y="3291840"/>
            <a:ext cx="2560320" cy="1097280"/>
          </a:xfrm>
          <a:prstGeom prst="rect">
            <a:avLst/>
          </a:prstGeom>
          <a:noFill/>
          <a:ln/>
        </p:spPr>
        <p:txBody>
          <a:bodyPr wrap="square" lIns="0" tIns="0" rIns="0" bIns="0" rtlCol="0" anchor="t"/>
          <a:lstStyle/>
          <a:p>
            <a:pPr algn="l" indent="-274320" marL="274320">
              <a:buNone/>
            </a:pPr>
            <a:r>
              <a:rPr lang="en-US" sz="1500" dirty="0" b="1">
                <a:solidFill>
                  <a:schemeClr val="accent1"/>
                </a:solidFill>
                <a:latin typeface="Calibri" pitchFamily="34" charset="0"/>
                <a:ea typeface="Calibri" pitchFamily="34" charset="-122"/>
                <a:cs typeface="Calibri" pitchFamily="34" charset="-120"/>
              </a:rPr>
              <a:t>5	</a:t>
            </a:r>
            <a:r>
              <a:rPr lang="en-US" sz="1500" dirty="0">
                <a:solidFill>
                  <a:schemeClr val="tx1"/>
                </a:solidFill>
                <a:latin typeface="Calibri" pitchFamily="34" charset="0"/>
                <a:ea typeface="Calibri" pitchFamily="34" charset="-122"/>
                <a:cs typeface="Calibri" pitchFamily="34" charset="-120"/>
              </a:rPr>
              <a:t>Emails go to the supplier and customers, with numbers copied across by hand</a:t>
            </a:r>
            <a:endParaRPr lang="en-US" sz="1250" dirty="0"/>
          </a:p>
        </p:txBody>
      </p:sp>
      <p:sp>
        <p:nvSpPr>
          <p:cNvPr id="21" name="Text 19"/>
          <p:cNvSpPr txBox="1"/>
          <p:nvPr/>
        </p:nvSpPr>
        <p:spPr>
          <a:xfrm>
            <a:off x="6035040" y="3291840"/>
            <a:ext cx="2560320" cy="1097280"/>
          </a:xfrm>
          <a:prstGeom prst="rect">
            <a:avLst/>
          </a:prstGeom>
          <a:noFill/>
          <a:ln/>
        </p:spPr>
        <p:txBody>
          <a:bodyPr wrap="square" lIns="0" tIns="0" rIns="0" bIns="0" rtlCol="0" anchor="t"/>
          <a:lstStyle/>
          <a:p>
            <a:pPr algn="l" indent="-274320" marL="274320">
              <a:buNone/>
            </a:pPr>
            <a:r>
              <a:rPr lang="en-US" sz="1500" dirty="0" b="1">
                <a:solidFill>
                  <a:schemeClr val="accent1"/>
                </a:solidFill>
                <a:latin typeface="Calibri" pitchFamily="34" charset="0"/>
                <a:ea typeface="Calibri" pitchFamily="34" charset="-122"/>
                <a:cs typeface="Calibri" pitchFamily="34" charset="-120"/>
              </a:rPr>
              <a:t>6	</a:t>
            </a:r>
            <a:r>
              <a:rPr lang="en-US" sz="1500" dirty="0">
                <a:solidFill>
                  <a:schemeClr val="tx1"/>
                </a:solidFill>
                <a:latin typeface="Calibri" pitchFamily="34" charset="0"/>
                <a:ea typeface="Calibri" pitchFamily="34" charset="-122"/>
                <a:cs typeface="Calibri" pitchFamily="34" charset="-120"/>
              </a:rPr>
              <a:t>If a second delay lands, the planner goes back to step 2</a:t>
            </a:r>
            <a:endParaRPr lang="en-US" sz="12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548640"/>
          </a:xfrm>
          <a:prstGeom prst="rect">
            <a:avLst/>
          </a:prstGeom>
          <a:noFill/>
          <a:ln/>
        </p:spPr>
        <p:txBody>
          <a:bodyPr wrap="square" lIns="0" tIns="0" rIns="0" bIns="0" rtlCol="0" anchor="ctr"/>
          <a:lstStyle/>
          <a:p>
            <a:pPr algn="l" indent="0" marL="0">
              <a:buNone/>
            </a:pPr>
            <a:r>
              <a:rPr lang="en-US" sz="2600" b="1" dirty="0">
                <a:solidFill>
                  <a:schemeClr val="tx1"/>
                </a:solidFill>
                <a:latin typeface="Calibri" pitchFamily="34" charset="0"/>
                <a:ea typeface="Calibri" pitchFamily="34" charset="-122"/>
                <a:cs typeface="Calibri" pitchFamily="34" charset="-120"/>
              </a:rPr>
              <a:t>Proposed solution</a:t>
            </a:r>
            <a:endParaRPr lang="en-US" sz="2600" dirty="0"/>
          </a:p>
        </p:txBody>
      </p:sp>
      <p:sp>
        <p:nvSpPr>
          <p:cNvPr id="3" name="Shape 1"/>
          <p:cNvSpPr/>
          <p:nvPr/>
        </p:nvSpPr>
        <p:spPr>
          <a:xfrm>
            <a:off x="457200" y="1005840"/>
            <a:ext cx="1371600" cy="1463040"/>
          </a:xfrm>
          <a:prstGeom prst="roundRect">
            <a:avLst>
              <a:gd name="adj" fmla="val 4000"/>
            </a:avLst>
          </a:prstGeom>
          <a:solidFill>
            <a:schemeClr val="bg2"/>
          </a:solidFill>
          <a:ln/>
        </p:spPr>
      </p:sp>
      <p:sp>
        <p:nvSpPr>
          <p:cNvPr id="4" name="Text 2"/>
          <p:cNvSpPr txBox="1"/>
          <p:nvPr/>
        </p:nvSpPr>
        <p:spPr>
          <a:xfrm>
            <a:off x="530352" y="1097280"/>
            <a:ext cx="1261872" cy="274320"/>
          </a:xfrm>
          <a:prstGeom prst="rect">
            <a:avLst/>
          </a:prstGeom>
          <a:noFill/>
          <a:ln/>
        </p:spPr>
        <p:txBody>
          <a:bodyPr wrap="square" lIns="0" tIns="0" rIns="0" bIns="0" rtlCol="0" anchor="t"/>
          <a:lstStyle/>
          <a:p>
            <a:pPr algn="l" indent="0" marL="0">
              <a:buNone/>
            </a:pPr>
            <a:r>
              <a:rPr lang="en-US" sz="1300" b="1" dirty="0">
                <a:solidFill>
                  <a:schemeClr val="tx1"/>
                </a:solidFill>
                <a:latin typeface="Calibri" pitchFamily="34" charset="0"/>
                <a:ea typeface="Calibri" pitchFamily="34" charset="-122"/>
                <a:cs typeface="Calibri" pitchFamily="34" charset="-120"/>
              </a:rPr>
              <a:t>Planner</a:t>
            </a:r>
            <a:endParaRPr lang="en-US" sz="1300" dirty="0"/>
          </a:p>
        </p:txBody>
      </p:sp>
      <p:sp>
        <p:nvSpPr>
          <p:cNvPr id="5" name="Text 3"/>
          <p:cNvSpPr txBox="1"/>
          <p:nvPr/>
        </p:nvSpPr>
        <p:spPr>
          <a:xfrm>
            <a:off x="548640" y="1463040"/>
            <a:ext cx="1188720" cy="960120"/>
          </a:xfrm>
          <a:prstGeom prst="rect">
            <a:avLst/>
          </a:prstGeom>
          <a:noFill/>
          <a:ln/>
        </p:spPr>
        <p:txBody>
          <a:bodyPr wrap="square" lIns="0" tIns="0" rIns="0" bIns="0" rtlCol="0" anchor="t"/>
          <a:lstStyle/>
          <a:p>
            <a:pPr algn="l" indent="0" marL="0">
              <a:buNone/>
            </a:pPr>
            <a:r>
              <a:rPr lang="en-US" sz="1150" dirty="0">
                <a:solidFill>
                  <a:schemeClr val="tx1"/>
                </a:solidFill>
                <a:latin typeface="Calibri" pitchFamily="34" charset="0"/>
                <a:ea typeface="Calibri" pitchFamily="34" charset="-122"/>
                <a:cs typeface="Calibri" pitchFamily="34" charset="-120"/>
              </a:rPr>
              <a:t>Checks the alert and sets the tasks</a:t>
            </a:r>
            <a:endParaRPr lang="en-US" sz="1150" dirty="0"/>
          </a:p>
        </p:txBody>
      </p:sp>
      <p:sp>
        <p:nvSpPr>
          <p:cNvPr id="6" name="Shape 4"/>
          <p:cNvSpPr/>
          <p:nvPr/>
        </p:nvSpPr>
        <p:spPr>
          <a:xfrm>
            <a:off x="1865376" y="1737360"/>
            <a:ext cx="201168" cy="0"/>
          </a:xfrm>
          <a:prstGeom prst="line">
            <a:avLst/>
          </a:prstGeom>
          <a:noFill/>
          <a:ln w="22225">
            <a:solidFill>
              <a:schemeClr val="tx1"/>
            </a:solidFill>
            <a:prstDash val="solid"/>
            <a:tailEnd type="triangle"/>
          </a:ln>
        </p:spPr>
      </p:sp>
      <p:sp>
        <p:nvSpPr>
          <p:cNvPr id="7" name="Shape 5"/>
          <p:cNvSpPr/>
          <p:nvPr/>
        </p:nvSpPr>
        <p:spPr>
          <a:xfrm>
            <a:off x="2103120" y="1005840"/>
            <a:ext cx="1371600" cy="1463040"/>
          </a:xfrm>
          <a:prstGeom prst="roundRect">
            <a:avLst>
              <a:gd name="adj" fmla="val 4000"/>
            </a:avLst>
          </a:prstGeom>
          <a:solidFill>
            <a:schemeClr val="bg2"/>
          </a:solidFill>
          <a:ln/>
        </p:spPr>
      </p:sp>
      <p:sp>
        <p:nvSpPr>
          <p:cNvPr id="8" name="Text 6"/>
          <p:cNvSpPr txBox="1"/>
          <p:nvPr/>
        </p:nvSpPr>
        <p:spPr>
          <a:xfrm>
            <a:off x="2176272" y="1097280"/>
            <a:ext cx="1261872" cy="274320"/>
          </a:xfrm>
          <a:prstGeom prst="rect">
            <a:avLst/>
          </a:prstGeom>
          <a:noFill/>
          <a:ln/>
        </p:spPr>
        <p:txBody>
          <a:bodyPr wrap="square" lIns="0" tIns="0" rIns="0" bIns="0" rtlCol="0" anchor="t"/>
          <a:lstStyle/>
          <a:p>
            <a:pPr algn="l" indent="0" marL="0">
              <a:buNone/>
            </a:pPr>
            <a:r>
              <a:rPr lang="en-US" sz="1300" b="1" dirty="0">
                <a:solidFill>
                  <a:schemeClr val="tx1"/>
                </a:solidFill>
                <a:latin typeface="Calibri" pitchFamily="34" charset="0"/>
                <a:ea typeface="Calibri" pitchFamily="34" charset="-122"/>
                <a:cs typeface="Calibri" pitchFamily="34" charset="-120"/>
              </a:rPr>
              <a:t>Impact Analyst</a:t>
            </a:r>
            <a:endParaRPr lang="en-US" sz="1300" dirty="0"/>
          </a:p>
        </p:txBody>
      </p:sp>
      <p:sp>
        <p:nvSpPr>
          <p:cNvPr id="9" name="Text 7"/>
          <p:cNvSpPr txBox="1"/>
          <p:nvPr/>
        </p:nvSpPr>
        <p:spPr>
          <a:xfrm>
            <a:off x="2194560" y="1463040"/>
            <a:ext cx="1188720" cy="960120"/>
          </a:xfrm>
          <a:prstGeom prst="rect">
            <a:avLst/>
          </a:prstGeom>
          <a:noFill/>
          <a:ln/>
        </p:spPr>
        <p:txBody>
          <a:bodyPr wrap="square" lIns="0" tIns="0" rIns="0" bIns="0" rtlCol="0" anchor="t"/>
          <a:lstStyle/>
          <a:p>
            <a:pPr algn="l" indent="0" marL="0">
              <a:buNone/>
            </a:pPr>
            <a:r>
              <a:rPr lang="en-US" sz="1150" dirty="0">
                <a:solidFill>
                  <a:schemeClr val="tx1"/>
                </a:solidFill>
                <a:latin typeface="Calibri" pitchFamily="34" charset="0"/>
                <a:ea typeface="Calibri" pitchFamily="34" charset="-122"/>
                <a:cs typeface="Calibri" pitchFamily="34" charset="-120"/>
              </a:rPr>
              <a:t>Finds the orders that will slip, and by how much</a:t>
            </a:r>
            <a:endParaRPr lang="en-US" sz="1150" dirty="0"/>
          </a:p>
        </p:txBody>
      </p:sp>
      <p:sp>
        <p:nvSpPr>
          <p:cNvPr id="10" name="Shape 8"/>
          <p:cNvSpPr/>
          <p:nvPr/>
        </p:nvSpPr>
        <p:spPr>
          <a:xfrm>
            <a:off x="3511296" y="1737360"/>
            <a:ext cx="201168" cy="0"/>
          </a:xfrm>
          <a:prstGeom prst="line">
            <a:avLst/>
          </a:prstGeom>
          <a:noFill/>
          <a:ln w="22225">
            <a:solidFill>
              <a:schemeClr val="tx1"/>
            </a:solidFill>
            <a:prstDash val="solid"/>
            <a:tailEnd type="triangle"/>
          </a:ln>
        </p:spPr>
      </p:sp>
      <p:sp>
        <p:nvSpPr>
          <p:cNvPr id="11" name="Shape 9"/>
          <p:cNvSpPr/>
          <p:nvPr/>
        </p:nvSpPr>
        <p:spPr>
          <a:xfrm>
            <a:off x="3749040" y="1005840"/>
            <a:ext cx="1371600" cy="1463040"/>
          </a:xfrm>
          <a:prstGeom prst="roundRect">
            <a:avLst>
              <a:gd name="adj" fmla="val 4000"/>
            </a:avLst>
          </a:prstGeom>
          <a:solidFill>
            <a:schemeClr val="accent1"/>
          </a:solidFill>
          <a:ln/>
        </p:spPr>
      </p:sp>
      <p:sp>
        <p:nvSpPr>
          <p:cNvPr id="12" name="Text 10"/>
          <p:cNvSpPr txBox="1"/>
          <p:nvPr/>
        </p:nvSpPr>
        <p:spPr>
          <a:xfrm>
            <a:off x="3822192" y="1097280"/>
            <a:ext cx="1261872" cy="274320"/>
          </a:xfrm>
          <a:prstGeom prst="rect">
            <a:avLst/>
          </a:prstGeom>
          <a:noFill/>
          <a:ln/>
        </p:spPr>
        <p:txBody>
          <a:bodyPr wrap="square" lIns="0" tIns="0" rIns="0" bIns="0" rtlCol="0" anchor="t"/>
          <a:lstStyle/>
          <a:p>
            <a:pPr algn="l" indent="0" marL="0">
              <a:buNone/>
            </a:pPr>
            <a:r>
              <a:rPr lang="en-US" sz="1300" b="1" dirty="0">
                <a:solidFill>
                  <a:schemeClr val="bg1"/>
                </a:solidFill>
                <a:latin typeface="Calibri" pitchFamily="34" charset="0"/>
                <a:ea typeface="Calibri" pitchFamily="34" charset="-122"/>
                <a:cs typeface="Calibri" pitchFamily="34" charset="-120"/>
              </a:rPr>
              <a:t>Replanner</a:t>
            </a:r>
            <a:endParaRPr lang="en-US" sz="1300" dirty="0"/>
          </a:p>
        </p:txBody>
      </p:sp>
      <p:sp>
        <p:nvSpPr>
          <p:cNvPr id="13" name="Text 11"/>
          <p:cNvSpPr txBox="1"/>
          <p:nvPr/>
        </p:nvSpPr>
        <p:spPr>
          <a:xfrm>
            <a:off x="3840480" y="1463040"/>
            <a:ext cx="1188720" cy="960120"/>
          </a:xfrm>
          <a:prstGeom prst="rect">
            <a:avLst/>
          </a:prstGeom>
          <a:noFill/>
          <a:ln/>
        </p:spPr>
        <p:txBody>
          <a:bodyPr wrap="square" lIns="0" tIns="0" rIns="0" bIns="0" rtlCol="0" anchor="t"/>
          <a:lstStyle/>
          <a:p>
            <a:pPr algn="l" indent="0" marL="0">
              <a:buNone/>
            </a:pPr>
            <a:r>
              <a:rPr lang="en-US" sz="1150" dirty="0">
                <a:solidFill>
                  <a:schemeClr val="bg1"/>
                </a:solidFill>
                <a:latin typeface="Calibri" pitchFamily="34" charset="0"/>
                <a:ea typeface="Calibri" pitchFamily="34" charset="-122"/>
                <a:cs typeface="Calibri" pitchFamily="34" charset="-120"/>
              </a:rPr>
              <a:t>Picks the cheapest recovery mix with a linear program (PuLP solver) and drafts the messages</a:t>
            </a:r>
            <a:endParaRPr lang="en-US" sz="1150" dirty="0"/>
          </a:p>
        </p:txBody>
      </p:sp>
      <p:sp>
        <p:nvSpPr>
          <p:cNvPr id="14" name="Shape 12"/>
          <p:cNvSpPr/>
          <p:nvPr/>
        </p:nvSpPr>
        <p:spPr>
          <a:xfrm>
            <a:off x="5157216" y="1737360"/>
            <a:ext cx="201168" cy="0"/>
          </a:xfrm>
          <a:prstGeom prst="line">
            <a:avLst/>
          </a:prstGeom>
          <a:noFill/>
          <a:ln w="22225">
            <a:solidFill>
              <a:schemeClr val="tx1"/>
            </a:solidFill>
            <a:prstDash val="solid"/>
            <a:tailEnd type="triangle"/>
          </a:ln>
        </p:spPr>
      </p:sp>
      <p:sp>
        <p:nvSpPr>
          <p:cNvPr id="15" name="Shape 13"/>
          <p:cNvSpPr/>
          <p:nvPr/>
        </p:nvSpPr>
        <p:spPr>
          <a:xfrm>
            <a:off x="5394960" y="1005840"/>
            <a:ext cx="1371600" cy="1463040"/>
          </a:xfrm>
          <a:prstGeom prst="roundRect">
            <a:avLst>
              <a:gd name="adj" fmla="val 4000"/>
            </a:avLst>
          </a:prstGeom>
          <a:solidFill>
            <a:schemeClr val="bg2"/>
          </a:solidFill>
          <a:ln/>
        </p:spPr>
      </p:sp>
      <p:sp>
        <p:nvSpPr>
          <p:cNvPr id="16" name="Text 14"/>
          <p:cNvSpPr txBox="1"/>
          <p:nvPr/>
        </p:nvSpPr>
        <p:spPr>
          <a:xfrm>
            <a:off x="5468112" y="1097280"/>
            <a:ext cx="1261872" cy="274320"/>
          </a:xfrm>
          <a:prstGeom prst="rect">
            <a:avLst/>
          </a:prstGeom>
          <a:noFill/>
          <a:ln/>
        </p:spPr>
        <p:txBody>
          <a:bodyPr wrap="square" lIns="0" tIns="0" rIns="0" bIns="0" rtlCol="0" anchor="t"/>
          <a:lstStyle/>
          <a:p>
            <a:pPr algn="l" indent="0" marL="0">
              <a:buNone/>
            </a:pPr>
            <a:r>
              <a:rPr lang="en-US" sz="1300" b="1" dirty="0">
                <a:solidFill>
                  <a:schemeClr val="tx1"/>
                </a:solidFill>
                <a:latin typeface="Calibri" pitchFamily="34" charset="0"/>
                <a:ea typeface="Calibri" pitchFamily="34" charset="-122"/>
                <a:cs typeface="Calibri" pitchFamily="34" charset="-120"/>
              </a:rPr>
              <a:t>Critic</a:t>
            </a:r>
            <a:endParaRPr lang="en-US" sz="1300" dirty="0"/>
          </a:p>
        </p:txBody>
      </p:sp>
      <p:sp>
        <p:nvSpPr>
          <p:cNvPr id="17" name="Text 15"/>
          <p:cNvSpPr txBox="1"/>
          <p:nvPr/>
        </p:nvSpPr>
        <p:spPr>
          <a:xfrm>
            <a:off x="5486400" y="1463040"/>
            <a:ext cx="1188720" cy="960120"/>
          </a:xfrm>
          <a:prstGeom prst="rect">
            <a:avLst/>
          </a:prstGeom>
          <a:noFill/>
          <a:ln/>
        </p:spPr>
        <p:txBody>
          <a:bodyPr wrap="square" lIns="0" tIns="0" rIns="0" bIns="0" rtlCol="0" anchor="t"/>
          <a:lstStyle/>
          <a:p>
            <a:pPr algn="l" indent="0" marL="0">
              <a:buNone/>
            </a:pPr>
            <a:r>
              <a:rPr lang="en-US" sz="1150" dirty="0">
                <a:solidFill>
                  <a:schemeClr val="tx1"/>
                </a:solidFill>
                <a:latin typeface="Calibri" pitchFamily="34" charset="0"/>
                <a:ea typeface="Calibri" pitchFamily="34" charset="-122"/>
                <a:cs typeface="Calibri" pitchFamily="34" charset="-120"/>
              </a:rPr>
              <a:t>Recomputes everything from the raw data</a:t>
            </a:r>
            <a:endParaRPr lang="en-US" sz="1150" dirty="0"/>
          </a:p>
        </p:txBody>
      </p:sp>
      <p:sp>
        <p:nvSpPr>
          <p:cNvPr id="18" name="Shape 16"/>
          <p:cNvSpPr/>
          <p:nvPr/>
        </p:nvSpPr>
        <p:spPr>
          <a:xfrm>
            <a:off x="6803136" y="1737360"/>
            <a:ext cx="384048" cy="0"/>
          </a:xfrm>
          <a:prstGeom prst="line">
            <a:avLst/>
          </a:prstGeom>
          <a:noFill/>
          <a:ln w="22225">
            <a:solidFill>
              <a:schemeClr val="tx1"/>
            </a:solidFill>
            <a:prstDash val="solid"/>
            <a:tailEnd type="triangle"/>
          </a:ln>
        </p:spPr>
      </p:sp>
      <p:sp>
        <p:nvSpPr>
          <p:cNvPr id="19" name="Shape 17"/>
          <p:cNvSpPr/>
          <p:nvPr/>
        </p:nvSpPr>
        <p:spPr>
          <a:xfrm>
            <a:off x="7223760" y="1005840"/>
            <a:ext cx="1371600" cy="1463040"/>
          </a:xfrm>
          <a:prstGeom prst="roundRect">
            <a:avLst>
              <a:gd name="adj" fmla="val 4000"/>
            </a:avLst>
          </a:prstGeom>
          <a:solidFill>
            <a:schemeClr val="tx1"/>
          </a:solidFill>
          <a:ln/>
        </p:spPr>
      </p:sp>
      <p:sp>
        <p:nvSpPr>
          <p:cNvPr id="20" name="Text 18"/>
          <p:cNvSpPr txBox="1"/>
          <p:nvPr/>
        </p:nvSpPr>
        <p:spPr>
          <a:xfrm>
            <a:off x="7296912" y="1097280"/>
            <a:ext cx="1261872" cy="274320"/>
          </a:xfrm>
          <a:prstGeom prst="rect">
            <a:avLst/>
          </a:prstGeom>
          <a:noFill/>
          <a:ln/>
        </p:spPr>
        <p:txBody>
          <a:bodyPr wrap="square" lIns="0" tIns="0" rIns="0" bIns="0" rtlCol="0" anchor="t"/>
          <a:lstStyle/>
          <a:p>
            <a:pPr algn="l" indent="0" marL="0">
              <a:buNone/>
            </a:pPr>
            <a:r>
              <a:rPr lang="en-US" sz="1300" b="1" dirty="0">
                <a:solidFill>
                  <a:schemeClr val="bg1"/>
                </a:solidFill>
                <a:latin typeface="Calibri" pitchFamily="34" charset="0"/>
                <a:ea typeface="Calibri" pitchFamily="34" charset="-122"/>
                <a:cs typeface="Calibri" pitchFamily="34" charset="-120"/>
              </a:rPr>
              <a:t>Human approval</a:t>
            </a:r>
            <a:endParaRPr lang="en-US" sz="1300" dirty="0"/>
          </a:p>
        </p:txBody>
      </p:sp>
      <p:sp>
        <p:nvSpPr>
          <p:cNvPr id="21" name="Text 19"/>
          <p:cNvSpPr txBox="1"/>
          <p:nvPr/>
        </p:nvSpPr>
        <p:spPr>
          <a:xfrm>
            <a:off x="7315200" y="1463040"/>
            <a:ext cx="1188720" cy="960120"/>
          </a:xfrm>
          <a:prstGeom prst="rect">
            <a:avLst/>
          </a:prstGeom>
          <a:noFill/>
          <a:ln/>
        </p:spPr>
        <p:txBody>
          <a:bodyPr wrap="square" lIns="0" tIns="0" rIns="0" bIns="0" rtlCol="0" anchor="t"/>
          <a:lstStyle/>
          <a:p>
            <a:pPr algn="l" indent="0" marL="0">
              <a:buNone/>
            </a:pPr>
            <a:r>
              <a:rPr lang="en-US" sz="1150" dirty="0">
                <a:solidFill>
                  <a:schemeClr val="bg1"/>
                </a:solidFill>
                <a:latin typeface="Calibri" pitchFamily="34" charset="0"/>
                <a:ea typeface="Calibri" pitchFamily="34" charset="-122"/>
                <a:cs typeface="Calibri" pitchFamily="34" charset="-120"/>
              </a:rPr>
              <a:t>A planner approves the plan and the messages</a:t>
            </a:r>
            <a:endParaRPr lang="en-US" sz="1150" dirty="0"/>
          </a:p>
        </p:txBody>
      </p:sp>
      <p:sp>
        <p:nvSpPr>
          <p:cNvPr id="22" name="Text 20"/>
          <p:cNvSpPr txBox="1"/>
          <p:nvPr/>
        </p:nvSpPr>
        <p:spPr>
          <a:xfrm>
            <a:off x="6766560" y="1463040"/>
            <a:ext cx="457200" cy="182880"/>
          </a:xfrm>
          <a:prstGeom prst="rect">
            <a:avLst/>
          </a:prstGeom>
          <a:noFill/>
          <a:ln/>
        </p:spPr>
        <p:txBody>
          <a:bodyPr wrap="square" lIns="0" tIns="0" rIns="0" bIns="0" rtlCol="0" anchor="t"/>
          <a:lstStyle/>
          <a:p>
            <a:pPr algn="ctr" indent="0" marL="0">
              <a:buNone/>
            </a:pPr>
            <a:r>
              <a:rPr lang="en-US" sz="1050" b="1" dirty="0">
                <a:solidFill>
                  <a:schemeClr val="accent1"/>
                </a:solidFill>
                <a:latin typeface="Calibri" pitchFamily="34" charset="0"/>
                <a:ea typeface="Calibri" pitchFamily="34" charset="-122"/>
                <a:cs typeface="Calibri" pitchFamily="34" charset="-120"/>
              </a:rPr>
              <a:t>Pass</a:t>
            </a:r>
            <a:endParaRPr lang="en-US" sz="1050" dirty="0"/>
          </a:p>
        </p:txBody>
      </p:sp>
      <p:sp>
        <p:nvSpPr>
          <p:cNvPr id="23" name="Shape 21"/>
          <p:cNvSpPr/>
          <p:nvPr/>
        </p:nvSpPr>
        <p:spPr>
          <a:xfrm>
            <a:off x="6080760" y="2468880"/>
            <a:ext cx="0" cy="548640"/>
          </a:xfrm>
          <a:prstGeom prst="line">
            <a:avLst/>
          </a:prstGeom>
          <a:noFill/>
          <a:ln w="22225">
            <a:solidFill>
              <a:schemeClr val="accent2"/>
            </a:solidFill>
            <a:prstDash val="dash"/>
          </a:ln>
        </p:spPr>
      </p:sp>
      <p:sp>
        <p:nvSpPr>
          <p:cNvPr id="24" name="Shape 22"/>
          <p:cNvSpPr/>
          <p:nvPr/>
        </p:nvSpPr>
        <p:spPr>
          <a:xfrm flipH="1">
            <a:off x="4434840" y="3017520"/>
            <a:ext cx="1645920" cy="0"/>
          </a:xfrm>
          <a:prstGeom prst="line">
            <a:avLst/>
          </a:prstGeom>
          <a:noFill/>
          <a:ln w="22225">
            <a:solidFill>
              <a:schemeClr val="accent2"/>
            </a:solidFill>
            <a:prstDash val="dash"/>
          </a:ln>
        </p:spPr>
      </p:sp>
      <p:sp>
        <p:nvSpPr>
          <p:cNvPr id="25" name="Shape 23"/>
          <p:cNvSpPr/>
          <p:nvPr/>
        </p:nvSpPr>
        <p:spPr>
          <a:xfrm flipV="1">
            <a:off x="4434840" y="2487168"/>
            <a:ext cx="0" cy="530352"/>
          </a:xfrm>
          <a:prstGeom prst="line">
            <a:avLst/>
          </a:prstGeom>
          <a:noFill/>
          <a:ln w="22225">
            <a:solidFill>
              <a:schemeClr val="accent2"/>
            </a:solidFill>
            <a:prstDash val="dash"/>
            <a:tailEnd type="triangle"/>
          </a:ln>
        </p:spPr>
      </p:sp>
      <p:sp>
        <p:nvSpPr>
          <p:cNvPr id="26" name="Text 24"/>
          <p:cNvSpPr txBox="1"/>
          <p:nvPr/>
        </p:nvSpPr>
        <p:spPr>
          <a:xfrm>
            <a:off x="3657600" y="3127248"/>
            <a:ext cx="5029200" cy="502920"/>
          </a:xfrm>
          <a:prstGeom prst="rect">
            <a:avLst/>
          </a:prstGeom>
          <a:noFill/>
          <a:ln/>
        </p:spPr>
        <p:txBody>
          <a:bodyPr wrap="square" lIns="0" tIns="0" rIns="0" bIns="0" rtlCol="0" anchor="t"/>
          <a:lstStyle/>
          <a:p>
            <a:pPr algn="ctr" indent="0" marL="0">
              <a:buNone/>
            </a:pPr>
            <a:r>
              <a:rPr lang="en-US" sz="1150" b="1" dirty="0">
                <a:solidFill>
                  <a:schemeClr val="accent2"/>
                </a:solidFill>
                <a:latin typeface="Calibri" pitchFamily="34" charset="0"/>
                <a:ea typeface="Calibri" pitchFamily="34" charset="-122"/>
                <a:cs typeface="Calibri" pitchFamily="34" charset="-120"/>
              </a:rPr>
              <a:t>Fail: back to the Replanner with feedback, up to 2 retries</a:t>
            </a:r>
            <a:endParaRPr lang="en-US" sz="1150" dirty="0"/>
          </a:p>
          <a:p>
            <a:pPr algn="ctr" indent="0" marL="0">
              <a:buNone/>
            </a:pPr>
            <a:r>
              <a:rPr lang="en-US" sz="1150" dirty="0">
                <a:solidFill>
                  <a:schemeClr val="accent2"/>
                </a:solidFill>
                <a:latin typeface="Calibri" pitchFamily="34" charset="0"/>
                <a:ea typeface="Calibri" pitchFamily="34" charset="-122"/>
                <a:cs typeface="Calibri" pitchFamily="34" charset="-120"/>
              </a:rPr>
              <a:t>Still failing after 2 retries: escalate to a human with the full log</a:t>
            </a:r>
            <a:endParaRPr lang="en-US" sz="1150" dirty="0"/>
          </a:p>
        </p:txBody>
      </p:sp>
      <p:sp>
        <p:nvSpPr>
          <p:cNvPr id="27" name="Text 25"/>
          <p:cNvSpPr txBox="1"/>
          <p:nvPr/>
        </p:nvSpPr>
        <p:spPr>
          <a:xfrm>
            <a:off x="457200" y="2834640"/>
            <a:ext cx="3017520" cy="731520"/>
          </a:xfrm>
          <a:prstGeom prst="rect">
            <a:avLst/>
          </a:prstGeom>
          <a:noFill/>
          <a:ln/>
        </p:spPr>
        <p:txBody>
          <a:bodyPr wrap="square" lIns="0" tIns="0" rIns="0" bIns="0" rtlCol="0" anchor="t"/>
          <a:lstStyle/>
          <a:p>
            <a:pPr algn="l" indent="0" marL="0">
              <a:buNone/>
            </a:pPr>
            <a:r>
              <a:rPr lang="en-US" sz="1200" b="1" dirty="0">
                <a:solidFill>
                  <a:schemeClr val="accent1"/>
                </a:solidFill>
                <a:latin typeface="Calibri" pitchFamily="34" charset="0"/>
                <a:ea typeface="Calibri" pitchFamily="34" charset="-122"/>
                <a:cs typeface="Calibri" pitchFamily="34" charset="-120"/>
              </a:rPr>
              <a:t>Second alert mid-run</a:t>
            </a:r>
            <a:endParaRPr lang="en-US" sz="1200" dirty="0"/>
          </a:p>
          <a:p>
            <a:pPr algn="l" indent="0" marL="0">
              <a:buNone/>
            </a:pPr>
            <a:r>
              <a:rPr lang="en-US" sz="1200" dirty="0">
                <a:solidFill>
                  <a:schemeClr val="tx1"/>
                </a:solidFill>
                <a:latin typeface="Calibri" pitchFamily="34" charset="0"/>
                <a:ea typeface="Calibri" pitchFamily="34" charset="-122"/>
                <a:cs typeface="Calibri" pitchFamily="34" charset="-120"/>
              </a:rPr>
              <a:t>The Planner merges it into the run and restarts at the Impact Analyst.</a:t>
            </a:r>
            <a:endParaRPr lang="en-US" sz="1200" dirty="0"/>
          </a:p>
        </p:txBody>
      </p:sp>
      <p:sp>
        <p:nvSpPr>
          <p:cNvPr id="28" name="Shape 26"/>
          <p:cNvSpPr/>
          <p:nvPr/>
        </p:nvSpPr>
        <p:spPr>
          <a:xfrm>
            <a:off x="457200" y="3931920"/>
            <a:ext cx="8229600" cy="685800"/>
          </a:xfrm>
          <a:prstGeom prst="roundRect">
            <a:avLst>
              <a:gd name="adj" fmla="val 8000"/>
            </a:avLst>
          </a:prstGeom>
          <a:solidFill>
            <a:schemeClr val="accent4"/>
          </a:solidFill>
          <a:ln/>
        </p:spPr>
      </p:sp>
      <p:sp>
        <p:nvSpPr>
          <p:cNvPr id="29" name="Text 27"/>
          <p:cNvSpPr txBox="1"/>
          <p:nvPr/>
        </p:nvSpPr>
        <p:spPr>
          <a:xfrm>
            <a:off x="640080" y="3931920"/>
            <a:ext cx="7863840" cy="685800"/>
          </a:xfrm>
          <a:prstGeom prst="rect">
            <a:avLst/>
          </a:prstGeom>
          <a:noFill/>
          <a:ln/>
        </p:spPr>
        <p:txBody>
          <a:bodyPr wrap="square" lIns="0" tIns="0" rIns="0" bIns="0" rtlCol="0" anchor="ctr"/>
          <a:lstStyle/>
          <a:p>
            <a:pPr algn="l" indent="0" marL="0">
              <a:buNone/>
            </a:pPr>
            <a:r>
              <a:rPr lang="en-US" sz="1400" b="1" dirty="0">
                <a:solidFill>
                  <a:schemeClr val="tx1"/>
                </a:solidFill>
                <a:latin typeface="Calibri" pitchFamily="34" charset="0"/>
                <a:ea typeface="Calibri" pitchFamily="34" charset="-122"/>
                <a:cs typeface="Calibri" pitchFamily="34" charset="-120"/>
              </a:rPr>
              <a:t>The numbers come from code and a solver. </a:t>
            </a:r>
            <a:pPr algn="l" indent="0" marL="0">
              <a:buNone/>
            </a:pPr>
            <a:r>
              <a:rPr lang="en-US" sz="1400" dirty="0">
                <a:solidFill>
                  <a:schemeClr val="tx1"/>
                </a:solidFill>
                <a:latin typeface="Calibri" pitchFamily="34" charset="0"/>
                <a:ea typeface="Calibri" pitchFamily="34" charset="-122"/>
                <a:cs typeface="Calibri" pitchFamily="34" charset="-120"/>
              </a:rPr>
              <a:t>The language model, if used, only reads the alert and writes the messages.</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548640"/>
          </a:xfrm>
          <a:prstGeom prst="rect">
            <a:avLst/>
          </a:prstGeom>
          <a:noFill/>
          <a:ln/>
        </p:spPr>
        <p:txBody>
          <a:bodyPr wrap="square" lIns="0" tIns="0" rIns="0" bIns="0" rtlCol="0" anchor="ctr"/>
          <a:lstStyle/>
          <a:p>
            <a:pPr algn="l" indent="0" marL="0">
              <a:buNone/>
            </a:pPr>
            <a:r>
              <a:rPr lang="en-US" sz="2600" b="1" dirty="0">
                <a:solidFill>
                  <a:schemeClr val="tx1"/>
                </a:solidFill>
                <a:latin typeface="Calibri" pitchFamily="34" charset="0"/>
                <a:ea typeface="Calibri" pitchFamily="34" charset="-122"/>
                <a:cs typeface="Calibri" pitchFamily="34" charset="-120"/>
              </a:rPr>
              <a:t>Agent roles</a:t>
            </a:r>
            <a:endParaRPr lang="en-US" sz="26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457200" y="960120"/>
          <a:ext cx="8229600" cy="914400"/>
        </p:xfrm>
        <a:graphic>
          <a:graphicData uri="http://schemas.openxmlformats.org/drawingml/2006/table">
            <a:tbl>
              <a:tblPr/>
              <a:tblGrid>
                <a:gridCol w="1234440"/>
                <a:gridCol w="3337560"/>
                <a:gridCol w="1828800"/>
                <a:gridCol w="1828800"/>
              </a:tblGrid>
              <a:tr h="347472">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Agent</a:t>
                      </a:r>
                      <a:endParaRPr lang="en-US" sz="1300" dirty="0">
                        <a:latin typeface="Calibri" charset="0"/>
                        <a:ea typeface="Calibri" charset="0"/>
                        <a:cs typeface="Calibri" charset="0"/>
                      </a:endParaRPr>
                    </a:p>
                  </a:txBody>
                  <a:tcPr marL="91440" marR="91440" marT="45720" marB="45720" anchor="ctr">
                    <a:lnL w="9525" cap="flat" cmpd="sng" algn="ctr">
                      <a:solidFill>
                        <a:srgbClr val="D8E8E6"/>
                      </a:solidFill>
                      <a:prstDash val="solid"/>
                      <a:round/>
                      <a:headEnd type="none" w="med" len="med"/>
                      <a:tailEnd type="none" w="med" len="med"/>
                    </a:lnL>
                    <a:lnR w="9525" cap="flat" cmpd="sng" algn="ctr">
                      <a:solidFill>
                        <a:srgbClr val="D8E8E6"/>
                      </a:solidFill>
                      <a:prstDash val="solid"/>
                      <a:round/>
                      <a:headEnd type="none" w="med" len="med"/>
                      <a:tailEnd type="none" w="med" len="med"/>
                    </a:lnR>
                    <a:lnT w="9525" cap="flat" cmpd="sng" algn="ctr">
                      <a:solidFill>
                        <a:srgbClr val="D8E8E6"/>
                      </a:solidFill>
                      <a:prstDash val="solid"/>
                      <a:round/>
                      <a:headEnd type="none" w="med" len="med"/>
                      <a:tailEnd type="none" w="med" len="med"/>
                    </a:lnT>
                    <a:lnB w="9525" cap="flat" cmpd="sng" algn="ctr">
                      <a:solidFill>
                        <a:srgbClr val="D8E8E6"/>
                      </a:solidFill>
                      <a:prstDash val="solid"/>
                      <a:round/>
                      <a:headEnd type="none" w="med" len="med"/>
                      <a:tailEnd type="none" w="med" len="med"/>
                    </a:lnB>
                    <a:solidFill>
                      <a:srgbClr val="2F7F79"/>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What it does</a:t>
                      </a:r>
                      <a:endParaRPr lang="en-US" sz="1300" dirty="0">
                        <a:latin typeface="Calibri" charset="0"/>
                        <a:ea typeface="Calibri" charset="0"/>
                        <a:cs typeface="Calibri" charset="0"/>
                      </a:endParaRPr>
                    </a:p>
                  </a:txBody>
                  <a:tcPr marL="91440" marR="91440" marT="45720" marB="45720" anchor="ctr">
                    <a:lnL w="9525" cap="flat" cmpd="sng" algn="ctr">
                      <a:solidFill>
                        <a:srgbClr val="D8E8E6"/>
                      </a:solidFill>
                      <a:prstDash val="solid"/>
                      <a:round/>
                      <a:headEnd type="none" w="med" len="med"/>
                      <a:tailEnd type="none" w="med" len="med"/>
                    </a:lnL>
                    <a:lnR w="9525" cap="flat" cmpd="sng" algn="ctr">
                      <a:solidFill>
                        <a:srgbClr val="D8E8E6"/>
                      </a:solidFill>
                      <a:prstDash val="solid"/>
                      <a:round/>
                      <a:headEnd type="none" w="med" len="med"/>
                      <a:tailEnd type="none" w="med" len="med"/>
                    </a:lnR>
                    <a:lnT w="9525" cap="flat" cmpd="sng" algn="ctr">
                      <a:solidFill>
                        <a:srgbClr val="D8E8E6"/>
                      </a:solidFill>
                      <a:prstDash val="solid"/>
                      <a:round/>
                      <a:headEnd type="none" w="med" len="med"/>
                      <a:tailEnd type="none" w="med" len="med"/>
                    </a:lnT>
                    <a:lnB w="9525" cap="flat" cmpd="sng" algn="ctr">
                      <a:solidFill>
                        <a:srgbClr val="D8E8E6"/>
                      </a:solidFill>
                      <a:prstDash val="solid"/>
                      <a:round/>
                      <a:headEnd type="none" w="med" len="med"/>
                      <a:tailEnd type="none" w="med" len="med"/>
                    </a:lnB>
                    <a:solidFill>
                      <a:srgbClr val="2F7F79"/>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Takes in</a:t>
                      </a:r>
                      <a:endParaRPr lang="en-US" sz="1300" dirty="0">
                        <a:latin typeface="Calibri" charset="0"/>
                        <a:ea typeface="Calibri" charset="0"/>
                        <a:cs typeface="Calibri" charset="0"/>
                      </a:endParaRPr>
                    </a:p>
                  </a:txBody>
                  <a:tcPr marL="91440" marR="91440" marT="45720" marB="45720" anchor="ctr">
                    <a:lnL w="9525" cap="flat" cmpd="sng" algn="ctr">
                      <a:solidFill>
                        <a:srgbClr val="D8E8E6"/>
                      </a:solidFill>
                      <a:prstDash val="solid"/>
                      <a:round/>
                      <a:headEnd type="none" w="med" len="med"/>
                      <a:tailEnd type="none" w="med" len="med"/>
                    </a:lnL>
                    <a:lnR w="9525" cap="flat" cmpd="sng" algn="ctr">
                      <a:solidFill>
                        <a:srgbClr val="D8E8E6"/>
                      </a:solidFill>
                      <a:prstDash val="solid"/>
                      <a:round/>
                      <a:headEnd type="none" w="med" len="med"/>
                      <a:tailEnd type="none" w="med" len="med"/>
                    </a:lnR>
                    <a:lnT w="9525" cap="flat" cmpd="sng" algn="ctr">
                      <a:solidFill>
                        <a:srgbClr val="D8E8E6"/>
                      </a:solidFill>
                      <a:prstDash val="solid"/>
                      <a:round/>
                      <a:headEnd type="none" w="med" len="med"/>
                      <a:tailEnd type="none" w="med" len="med"/>
                    </a:lnT>
                    <a:lnB w="9525" cap="flat" cmpd="sng" algn="ctr">
                      <a:solidFill>
                        <a:srgbClr val="D8E8E6"/>
                      </a:solidFill>
                      <a:prstDash val="solid"/>
                      <a:round/>
                      <a:headEnd type="none" w="med" len="med"/>
                      <a:tailEnd type="none" w="med" len="med"/>
                    </a:lnB>
                    <a:solidFill>
                      <a:srgbClr val="2F7F79"/>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Hands out</a:t>
                      </a:r>
                      <a:endParaRPr lang="en-US" sz="1300" dirty="0">
                        <a:latin typeface="Calibri" charset="0"/>
                        <a:ea typeface="Calibri" charset="0"/>
                        <a:cs typeface="Calibri" charset="0"/>
                      </a:endParaRPr>
                    </a:p>
                  </a:txBody>
                  <a:tcPr marL="91440" marR="91440" marT="45720" marB="45720" anchor="ctr">
                    <a:lnL w="9525" cap="flat" cmpd="sng" algn="ctr">
                      <a:solidFill>
                        <a:srgbClr val="D8E8E6"/>
                      </a:solidFill>
                      <a:prstDash val="solid"/>
                      <a:round/>
                      <a:headEnd type="none" w="med" len="med"/>
                      <a:tailEnd type="none" w="med" len="med"/>
                    </a:lnL>
                    <a:lnR w="9525" cap="flat" cmpd="sng" algn="ctr">
                      <a:solidFill>
                        <a:srgbClr val="D8E8E6"/>
                      </a:solidFill>
                      <a:prstDash val="solid"/>
                      <a:round/>
                      <a:headEnd type="none" w="med" len="med"/>
                      <a:tailEnd type="none" w="med" len="med"/>
                    </a:lnR>
                    <a:lnT w="9525" cap="flat" cmpd="sng" algn="ctr">
                      <a:solidFill>
                        <a:srgbClr val="D8E8E6"/>
                      </a:solidFill>
                      <a:prstDash val="solid"/>
                      <a:round/>
                      <a:headEnd type="none" w="med" len="med"/>
                      <a:tailEnd type="none" w="med" len="med"/>
                    </a:lnT>
                    <a:lnB w="9525" cap="flat" cmpd="sng" algn="ctr">
                      <a:solidFill>
                        <a:srgbClr val="D8E8E6"/>
                      </a:solidFill>
                      <a:prstDash val="solid"/>
                      <a:round/>
                      <a:headEnd type="none" w="med" len="med"/>
                      <a:tailEnd type="none" w="med" len="med"/>
                    </a:lnB>
                    <a:solidFill>
                      <a:srgbClr val="2F7F79"/>
                    </a:solidFill>
                  </a:tcPr>
                </a:tc>
              </a:tr>
              <a:tr h="713232">
                <a:tc>
                  <a:txBody>
                    <a:bodyPr/>
                    <a:lstStyle/>
                    <a:p>
                      <a:pPr indent="0" marL="0">
                        <a:buNone/>
                      </a:pPr>
                      <a:r>
                        <a:rPr lang="en-US" sz="1300" b="1" dirty="0">
                          <a:solidFill>
                            <a:srgbClr val="16243D"/>
                          </a:solidFill>
                          <a:latin typeface="Calibri" pitchFamily="34" charset="0"/>
                          <a:ea typeface="Calibri" pitchFamily="34" charset="-122"/>
                          <a:cs typeface="Calibri" pitchFamily="34" charset="-120"/>
                        </a:rPr>
                        <a:t>Planner</a:t>
                      </a:r>
                      <a:endParaRPr lang="en-US" sz="1300" dirty="0">
                        <a:latin typeface="Calibri" charset="0"/>
                        <a:ea typeface="Calibri" charset="0"/>
                        <a:cs typeface="Calibri" charset="0"/>
                      </a:endParaRPr>
                    </a:p>
                  </a:txBody>
                  <a:tcPr marL="91440" marR="91440" marT="45720" marB="45720" anchor="ctr">
                    <a:lnL w="9525" cap="flat" cmpd="sng" algn="ctr">
                      <a:solidFill>
                        <a:srgbClr val="D8E8E6"/>
                      </a:solidFill>
                      <a:prstDash val="solid"/>
                      <a:round/>
                      <a:headEnd type="none" w="med" len="med"/>
                      <a:tailEnd type="none" w="med" len="med"/>
                    </a:lnL>
                    <a:lnR w="9525" cap="flat" cmpd="sng" algn="ctr">
                      <a:solidFill>
                        <a:srgbClr val="D8E8E6"/>
                      </a:solidFill>
                      <a:prstDash val="solid"/>
                      <a:round/>
                      <a:headEnd type="none" w="med" len="med"/>
                      <a:tailEnd type="none" w="med" len="med"/>
                    </a:lnR>
                    <a:lnT w="9525" cap="flat" cmpd="sng" algn="ctr">
                      <a:solidFill>
                        <a:srgbClr val="D8E8E6"/>
                      </a:solidFill>
                      <a:prstDash val="solid"/>
                      <a:round/>
                      <a:headEnd type="none" w="med" len="med"/>
                      <a:tailEnd type="none" w="med" len="med"/>
                    </a:lnT>
                    <a:lnB w="9525" cap="flat" cmpd="sng" algn="ctr">
                      <a:solidFill>
                        <a:srgbClr val="D8E8E6"/>
                      </a:solidFill>
                      <a:prstDash val="solid"/>
                      <a:round/>
                      <a:headEnd type="none" w="med" len="med"/>
                      <a:tailEnd type="none" w="med" len="med"/>
                    </a:lnB>
                    <a:solidFill>
                      <a:srgbClr val="FFFFFF"/>
                    </a:solidFill>
                  </a:tcPr>
                </a:tc>
                <a:tc>
                  <a:txBody>
                    <a:bodyPr/>
                    <a:lstStyle/>
                    <a:p>
                      <a:pPr indent="0" marL="0">
                        <a:buNone/>
                      </a:pPr>
                      <a:r>
                        <a:rPr lang="en-US" sz="1200" dirty="0">
                          <a:solidFill>
                            <a:srgbClr val="16243D"/>
                          </a:solidFill>
                          <a:latin typeface="Calibri" pitchFamily="34" charset="0"/>
                          <a:ea typeface="Calibri" pitchFamily="34" charset="-122"/>
                          <a:cs typeface="Calibri" pitchFamily="34" charset="-120"/>
                        </a:rPr>
                        <a:t>Reads the alert, rejects bad ones, sets the task order, runs the retry loop and escalates when needed</a:t>
                      </a:r>
                      <a:endParaRPr lang="en-US" sz="1200" dirty="0">
                        <a:latin typeface="Calibri" charset="0"/>
                        <a:ea typeface="Calibri" charset="0"/>
                        <a:cs typeface="Calibri" charset="0"/>
                      </a:endParaRPr>
                    </a:p>
                  </a:txBody>
                  <a:tcPr marL="91440" marR="91440" marT="45720" marB="45720" anchor="ctr">
                    <a:lnL w="9525" cap="flat" cmpd="sng" algn="ctr">
                      <a:solidFill>
                        <a:srgbClr val="D8E8E6"/>
                      </a:solidFill>
                      <a:prstDash val="solid"/>
                      <a:round/>
                      <a:headEnd type="none" w="med" len="med"/>
                      <a:tailEnd type="none" w="med" len="med"/>
                    </a:lnL>
                    <a:lnR w="9525" cap="flat" cmpd="sng" algn="ctr">
                      <a:solidFill>
                        <a:srgbClr val="D8E8E6"/>
                      </a:solidFill>
                      <a:prstDash val="solid"/>
                      <a:round/>
                      <a:headEnd type="none" w="med" len="med"/>
                      <a:tailEnd type="none" w="med" len="med"/>
                    </a:lnR>
                    <a:lnT w="9525" cap="flat" cmpd="sng" algn="ctr">
                      <a:solidFill>
                        <a:srgbClr val="D8E8E6"/>
                      </a:solidFill>
                      <a:prstDash val="solid"/>
                      <a:round/>
                      <a:headEnd type="none" w="med" len="med"/>
                      <a:tailEnd type="none" w="med" len="med"/>
                    </a:lnT>
                    <a:lnB w="9525" cap="flat" cmpd="sng" algn="ctr">
                      <a:solidFill>
                        <a:srgbClr val="D8E8E6"/>
                      </a:solidFill>
                      <a:prstDash val="solid"/>
                      <a:round/>
                      <a:headEnd type="none" w="med" len="med"/>
                      <a:tailEnd type="none" w="med" len="med"/>
                    </a:lnB>
                    <a:solidFill>
                      <a:srgbClr val="FFFFFF"/>
                    </a:solidFill>
                  </a:tcPr>
                </a:tc>
                <a:tc>
                  <a:txBody>
                    <a:bodyPr/>
                    <a:lstStyle/>
                    <a:p>
                      <a:pPr indent="0" marL="0">
                        <a:buNone/>
                      </a:pPr>
                      <a:r>
                        <a:rPr lang="en-US" sz="1200" dirty="0">
                          <a:solidFill>
                            <a:srgbClr val="16243D"/>
                          </a:solidFill>
                          <a:latin typeface="Calibri" pitchFamily="34" charset="0"/>
                          <a:ea typeface="Calibri" pitchFamily="34" charset="-122"/>
                          <a:cs typeface="Calibri" pitchFamily="34" charset="-120"/>
                        </a:rPr>
                        <a:t>Raw alert text</a:t>
                      </a:r>
                      <a:endParaRPr lang="en-US" sz="1200" dirty="0">
                        <a:latin typeface="Calibri" charset="0"/>
                        <a:ea typeface="Calibri" charset="0"/>
                        <a:cs typeface="Calibri" charset="0"/>
                      </a:endParaRPr>
                    </a:p>
                  </a:txBody>
                  <a:tcPr marL="91440" marR="91440" marT="45720" marB="45720" anchor="ctr">
                    <a:lnL w="9525" cap="flat" cmpd="sng" algn="ctr">
                      <a:solidFill>
                        <a:srgbClr val="D8E8E6"/>
                      </a:solidFill>
                      <a:prstDash val="solid"/>
                      <a:round/>
                      <a:headEnd type="none" w="med" len="med"/>
                      <a:tailEnd type="none" w="med" len="med"/>
                    </a:lnL>
                    <a:lnR w="9525" cap="flat" cmpd="sng" algn="ctr">
                      <a:solidFill>
                        <a:srgbClr val="D8E8E6"/>
                      </a:solidFill>
                      <a:prstDash val="solid"/>
                      <a:round/>
                      <a:headEnd type="none" w="med" len="med"/>
                      <a:tailEnd type="none" w="med" len="med"/>
                    </a:lnR>
                    <a:lnT w="9525" cap="flat" cmpd="sng" algn="ctr">
                      <a:solidFill>
                        <a:srgbClr val="D8E8E6"/>
                      </a:solidFill>
                      <a:prstDash val="solid"/>
                      <a:round/>
                      <a:headEnd type="none" w="med" len="med"/>
                      <a:tailEnd type="none" w="med" len="med"/>
                    </a:lnT>
                    <a:lnB w="9525" cap="flat" cmpd="sng" algn="ctr">
                      <a:solidFill>
                        <a:srgbClr val="D8E8E6"/>
                      </a:solidFill>
                      <a:prstDash val="solid"/>
                      <a:round/>
                      <a:headEnd type="none" w="med" len="med"/>
                      <a:tailEnd type="none" w="med" len="med"/>
                    </a:lnB>
                    <a:solidFill>
                      <a:srgbClr val="FFFFFF"/>
                    </a:solidFill>
                  </a:tcPr>
                </a:tc>
                <a:tc>
                  <a:txBody>
                    <a:bodyPr/>
                    <a:lstStyle/>
                    <a:p>
                      <a:pPr indent="0" marL="0">
                        <a:buNone/>
                      </a:pPr>
                      <a:r>
                        <a:rPr lang="en-US" sz="1200" dirty="0">
                          <a:solidFill>
                            <a:srgbClr val="16243D"/>
                          </a:solidFill>
                          <a:latin typeface="Calibri" pitchFamily="34" charset="0"/>
                          <a:ea typeface="Calibri" pitchFamily="34" charset="-122"/>
                          <a:cs typeface="Calibri" pitchFamily="34" charset="-120"/>
                        </a:rPr>
                        <a:t>Disruption record and run log</a:t>
                      </a:r>
                      <a:endParaRPr lang="en-US" sz="1200" dirty="0">
                        <a:latin typeface="Calibri" charset="0"/>
                        <a:ea typeface="Calibri" charset="0"/>
                        <a:cs typeface="Calibri" charset="0"/>
                      </a:endParaRPr>
                    </a:p>
                  </a:txBody>
                  <a:tcPr marL="91440" marR="91440" marT="45720" marB="45720" anchor="ctr">
                    <a:lnL w="9525" cap="flat" cmpd="sng" algn="ctr">
                      <a:solidFill>
                        <a:srgbClr val="D8E8E6"/>
                      </a:solidFill>
                      <a:prstDash val="solid"/>
                      <a:round/>
                      <a:headEnd type="none" w="med" len="med"/>
                      <a:tailEnd type="none" w="med" len="med"/>
                    </a:lnL>
                    <a:lnR w="9525" cap="flat" cmpd="sng" algn="ctr">
                      <a:solidFill>
                        <a:srgbClr val="D8E8E6"/>
                      </a:solidFill>
                      <a:prstDash val="solid"/>
                      <a:round/>
                      <a:headEnd type="none" w="med" len="med"/>
                      <a:tailEnd type="none" w="med" len="med"/>
                    </a:lnR>
                    <a:lnT w="9525" cap="flat" cmpd="sng" algn="ctr">
                      <a:solidFill>
                        <a:srgbClr val="D8E8E6"/>
                      </a:solidFill>
                      <a:prstDash val="solid"/>
                      <a:round/>
                      <a:headEnd type="none" w="med" len="med"/>
                      <a:tailEnd type="none" w="med" len="med"/>
                    </a:lnT>
                    <a:lnB w="9525" cap="flat" cmpd="sng" algn="ctr">
                      <a:solidFill>
                        <a:srgbClr val="D8E8E6"/>
                      </a:solidFill>
                      <a:prstDash val="solid"/>
                      <a:round/>
                      <a:headEnd type="none" w="med" len="med"/>
                      <a:tailEnd type="none" w="med" len="med"/>
                    </a:lnB>
                    <a:solidFill>
                      <a:srgbClr val="FFFFFF"/>
                    </a:solidFill>
                  </a:tcPr>
                </a:tc>
              </a:tr>
              <a:tr h="713232">
                <a:tc>
                  <a:txBody>
                    <a:bodyPr/>
                    <a:lstStyle/>
                    <a:p>
                      <a:pPr indent="0" marL="0">
                        <a:buNone/>
                      </a:pPr>
                      <a:r>
                        <a:rPr lang="en-US" sz="1300" b="1" dirty="0">
                          <a:solidFill>
                            <a:srgbClr val="16243D"/>
                          </a:solidFill>
                          <a:latin typeface="Calibri" pitchFamily="34" charset="0"/>
                          <a:ea typeface="Calibri" pitchFamily="34" charset="-122"/>
                          <a:cs typeface="Calibri" pitchFamily="34" charset="-120"/>
                        </a:rPr>
                        <a:t>Impact Analyst</a:t>
                      </a:r>
                      <a:endParaRPr lang="en-US" sz="1300" dirty="0">
                        <a:latin typeface="Calibri" charset="0"/>
                        <a:ea typeface="Calibri" charset="0"/>
                        <a:cs typeface="Calibri" charset="0"/>
                      </a:endParaRPr>
                    </a:p>
                  </a:txBody>
                  <a:tcPr marL="91440" marR="91440" marT="45720" marB="45720" anchor="ctr">
                    <a:lnL w="9525" cap="flat" cmpd="sng" algn="ctr">
                      <a:solidFill>
                        <a:srgbClr val="D8E8E6"/>
                      </a:solidFill>
                      <a:prstDash val="solid"/>
                      <a:round/>
                      <a:headEnd type="none" w="med" len="med"/>
                      <a:tailEnd type="none" w="med" len="med"/>
                    </a:lnL>
                    <a:lnR w="9525" cap="flat" cmpd="sng" algn="ctr">
                      <a:solidFill>
                        <a:srgbClr val="D8E8E6"/>
                      </a:solidFill>
                      <a:prstDash val="solid"/>
                      <a:round/>
                      <a:headEnd type="none" w="med" len="med"/>
                      <a:tailEnd type="none" w="med" len="med"/>
                    </a:lnR>
                    <a:lnT w="9525" cap="flat" cmpd="sng" algn="ctr">
                      <a:solidFill>
                        <a:srgbClr val="D8E8E6"/>
                      </a:solidFill>
                      <a:prstDash val="solid"/>
                      <a:round/>
                      <a:headEnd type="none" w="med" len="med"/>
                      <a:tailEnd type="none" w="med" len="med"/>
                    </a:lnT>
                    <a:lnB w="9525" cap="flat" cmpd="sng" algn="ctr">
                      <a:solidFill>
                        <a:srgbClr val="D8E8E6"/>
                      </a:solidFill>
                      <a:prstDash val="solid"/>
                      <a:round/>
                      <a:headEnd type="none" w="med" len="med"/>
                      <a:tailEnd type="none" w="med" len="med"/>
                    </a:lnB>
                    <a:solidFill>
                      <a:srgbClr val="EEF4F4"/>
                    </a:solidFill>
                  </a:tcPr>
                </a:tc>
                <a:tc>
                  <a:txBody>
                    <a:bodyPr/>
                    <a:lstStyle/>
                    <a:p>
                      <a:pPr indent="0" marL="0">
                        <a:buNone/>
                      </a:pPr>
                      <a:r>
                        <a:rPr lang="en-US" sz="1200" dirty="0">
                          <a:solidFill>
                            <a:srgbClr val="16243D"/>
                          </a:solidFill>
                          <a:latin typeface="Calibri" pitchFamily="34" charset="0"/>
                          <a:ea typeface="Calibri" pitchFamily="34" charset="-122"/>
                          <a:cs typeface="Calibri" pitchFamily="34" charset="-120"/>
                        </a:rPr>
                        <a:t>Traces the late part to products and open orders, then finds the shortage and days late</a:t>
                      </a:r>
                      <a:endParaRPr lang="en-US" sz="1200" dirty="0">
                        <a:latin typeface="Calibri" charset="0"/>
                        <a:ea typeface="Calibri" charset="0"/>
                        <a:cs typeface="Calibri" charset="0"/>
                      </a:endParaRPr>
                    </a:p>
                  </a:txBody>
                  <a:tcPr marL="91440" marR="91440" marT="45720" marB="45720" anchor="ctr">
                    <a:lnL w="9525" cap="flat" cmpd="sng" algn="ctr">
                      <a:solidFill>
                        <a:srgbClr val="D8E8E6"/>
                      </a:solidFill>
                      <a:prstDash val="solid"/>
                      <a:round/>
                      <a:headEnd type="none" w="med" len="med"/>
                      <a:tailEnd type="none" w="med" len="med"/>
                    </a:lnL>
                    <a:lnR w="9525" cap="flat" cmpd="sng" algn="ctr">
                      <a:solidFill>
                        <a:srgbClr val="D8E8E6"/>
                      </a:solidFill>
                      <a:prstDash val="solid"/>
                      <a:round/>
                      <a:headEnd type="none" w="med" len="med"/>
                      <a:tailEnd type="none" w="med" len="med"/>
                    </a:lnR>
                    <a:lnT w="9525" cap="flat" cmpd="sng" algn="ctr">
                      <a:solidFill>
                        <a:srgbClr val="D8E8E6"/>
                      </a:solidFill>
                      <a:prstDash val="solid"/>
                      <a:round/>
                      <a:headEnd type="none" w="med" len="med"/>
                      <a:tailEnd type="none" w="med" len="med"/>
                    </a:lnT>
                    <a:lnB w="9525" cap="flat" cmpd="sng" algn="ctr">
                      <a:solidFill>
                        <a:srgbClr val="D8E8E6"/>
                      </a:solidFill>
                      <a:prstDash val="solid"/>
                      <a:round/>
                      <a:headEnd type="none" w="med" len="med"/>
                      <a:tailEnd type="none" w="med" len="med"/>
                    </a:lnB>
                    <a:solidFill>
                      <a:srgbClr val="EEF4F4"/>
                    </a:solidFill>
                  </a:tcPr>
                </a:tc>
                <a:tc>
                  <a:txBody>
                    <a:bodyPr/>
                    <a:lstStyle/>
                    <a:p>
                      <a:pPr indent="0" marL="0">
                        <a:buNone/>
                      </a:pPr>
                      <a:r>
                        <a:rPr lang="en-US" sz="1200" dirty="0">
                          <a:solidFill>
                            <a:srgbClr val="16243D"/>
                          </a:solidFill>
                          <a:latin typeface="Calibri" pitchFamily="34" charset="0"/>
                          <a:ea typeface="Calibri" pitchFamily="34" charset="-122"/>
                          <a:cs typeface="Calibri" pitchFamily="34" charset="-120"/>
                        </a:rPr>
                        <a:t>Disruption record, BOM, stock, orders</a:t>
                      </a:r>
                      <a:endParaRPr lang="en-US" sz="1200" dirty="0">
                        <a:latin typeface="Calibri" charset="0"/>
                        <a:ea typeface="Calibri" charset="0"/>
                        <a:cs typeface="Calibri" charset="0"/>
                      </a:endParaRPr>
                    </a:p>
                  </a:txBody>
                  <a:tcPr marL="91440" marR="91440" marT="45720" marB="45720" anchor="ctr">
                    <a:lnL w="9525" cap="flat" cmpd="sng" algn="ctr">
                      <a:solidFill>
                        <a:srgbClr val="D8E8E6"/>
                      </a:solidFill>
                      <a:prstDash val="solid"/>
                      <a:round/>
                      <a:headEnd type="none" w="med" len="med"/>
                      <a:tailEnd type="none" w="med" len="med"/>
                    </a:lnL>
                    <a:lnR w="9525" cap="flat" cmpd="sng" algn="ctr">
                      <a:solidFill>
                        <a:srgbClr val="D8E8E6"/>
                      </a:solidFill>
                      <a:prstDash val="solid"/>
                      <a:round/>
                      <a:headEnd type="none" w="med" len="med"/>
                      <a:tailEnd type="none" w="med" len="med"/>
                    </a:lnR>
                    <a:lnT w="9525" cap="flat" cmpd="sng" algn="ctr">
                      <a:solidFill>
                        <a:srgbClr val="D8E8E6"/>
                      </a:solidFill>
                      <a:prstDash val="solid"/>
                      <a:round/>
                      <a:headEnd type="none" w="med" len="med"/>
                      <a:tailEnd type="none" w="med" len="med"/>
                    </a:lnT>
                    <a:lnB w="9525" cap="flat" cmpd="sng" algn="ctr">
                      <a:solidFill>
                        <a:srgbClr val="D8E8E6"/>
                      </a:solidFill>
                      <a:prstDash val="solid"/>
                      <a:round/>
                      <a:headEnd type="none" w="med" len="med"/>
                      <a:tailEnd type="none" w="med" len="med"/>
                    </a:lnB>
                    <a:solidFill>
                      <a:srgbClr val="EEF4F4"/>
                    </a:solidFill>
                  </a:tcPr>
                </a:tc>
                <a:tc>
                  <a:txBody>
                    <a:bodyPr/>
                    <a:lstStyle/>
                    <a:p>
                      <a:pPr indent="0" marL="0">
                        <a:buNone/>
                      </a:pPr>
                      <a:r>
                        <a:rPr lang="en-US" sz="1200" dirty="0">
                          <a:solidFill>
                            <a:srgbClr val="16243D"/>
                          </a:solidFill>
                          <a:latin typeface="Calibri" pitchFamily="34" charset="0"/>
                          <a:ea typeface="Calibri" pitchFamily="34" charset="-122"/>
                          <a:cs typeface="Calibri" pitchFamily="34" charset="-120"/>
                        </a:rPr>
                        <a:t>Impact report per order</a:t>
                      </a:r>
                      <a:endParaRPr lang="en-US" sz="1200" dirty="0">
                        <a:latin typeface="Calibri" charset="0"/>
                        <a:ea typeface="Calibri" charset="0"/>
                        <a:cs typeface="Calibri" charset="0"/>
                      </a:endParaRPr>
                    </a:p>
                  </a:txBody>
                  <a:tcPr marL="91440" marR="91440" marT="45720" marB="45720" anchor="ctr">
                    <a:lnL w="9525" cap="flat" cmpd="sng" algn="ctr">
                      <a:solidFill>
                        <a:srgbClr val="D8E8E6"/>
                      </a:solidFill>
                      <a:prstDash val="solid"/>
                      <a:round/>
                      <a:headEnd type="none" w="med" len="med"/>
                      <a:tailEnd type="none" w="med" len="med"/>
                    </a:lnL>
                    <a:lnR w="9525" cap="flat" cmpd="sng" algn="ctr">
                      <a:solidFill>
                        <a:srgbClr val="D8E8E6"/>
                      </a:solidFill>
                      <a:prstDash val="solid"/>
                      <a:round/>
                      <a:headEnd type="none" w="med" len="med"/>
                      <a:tailEnd type="none" w="med" len="med"/>
                    </a:lnR>
                    <a:lnT w="9525" cap="flat" cmpd="sng" algn="ctr">
                      <a:solidFill>
                        <a:srgbClr val="D8E8E6"/>
                      </a:solidFill>
                      <a:prstDash val="solid"/>
                      <a:round/>
                      <a:headEnd type="none" w="med" len="med"/>
                      <a:tailEnd type="none" w="med" len="med"/>
                    </a:lnT>
                    <a:lnB w="9525" cap="flat" cmpd="sng" algn="ctr">
                      <a:solidFill>
                        <a:srgbClr val="D8E8E6"/>
                      </a:solidFill>
                      <a:prstDash val="solid"/>
                      <a:round/>
                      <a:headEnd type="none" w="med" len="med"/>
                      <a:tailEnd type="none" w="med" len="med"/>
                    </a:lnB>
                    <a:solidFill>
                      <a:srgbClr val="EEF4F4"/>
                    </a:solidFill>
                  </a:tcPr>
                </a:tc>
              </a:tr>
              <a:tr h="822960">
                <a:tc>
                  <a:txBody>
                    <a:bodyPr/>
                    <a:lstStyle/>
                    <a:p>
                      <a:pPr indent="0" marL="0">
                        <a:buNone/>
                      </a:pPr>
                      <a:r>
                        <a:rPr lang="en-US" sz="1300" b="1" dirty="0">
                          <a:solidFill>
                            <a:srgbClr val="16243D"/>
                          </a:solidFill>
                          <a:latin typeface="Calibri" pitchFamily="34" charset="0"/>
                          <a:ea typeface="Calibri" pitchFamily="34" charset="-122"/>
                          <a:cs typeface="Calibri" pitchFamily="34" charset="-120"/>
                        </a:rPr>
                        <a:t>Replanner</a:t>
                      </a:r>
                      <a:endParaRPr lang="en-US" sz="1300" dirty="0">
                        <a:latin typeface="Calibri" charset="0"/>
                        <a:ea typeface="Calibri" charset="0"/>
                        <a:cs typeface="Calibri" charset="0"/>
                      </a:endParaRPr>
                    </a:p>
                  </a:txBody>
                  <a:tcPr marL="91440" marR="91440" marT="45720" marB="45720" anchor="ctr">
                    <a:lnL w="9525" cap="flat" cmpd="sng" algn="ctr">
                      <a:solidFill>
                        <a:srgbClr val="D8E8E6"/>
                      </a:solidFill>
                      <a:prstDash val="solid"/>
                      <a:round/>
                      <a:headEnd type="none" w="med" len="med"/>
                      <a:tailEnd type="none" w="med" len="med"/>
                    </a:lnL>
                    <a:lnR w="9525" cap="flat" cmpd="sng" algn="ctr">
                      <a:solidFill>
                        <a:srgbClr val="D8E8E6"/>
                      </a:solidFill>
                      <a:prstDash val="solid"/>
                      <a:round/>
                      <a:headEnd type="none" w="med" len="med"/>
                      <a:tailEnd type="none" w="med" len="med"/>
                    </a:lnR>
                    <a:lnT w="9525" cap="flat" cmpd="sng" algn="ctr">
                      <a:solidFill>
                        <a:srgbClr val="D8E8E6"/>
                      </a:solidFill>
                      <a:prstDash val="solid"/>
                      <a:round/>
                      <a:headEnd type="none" w="med" len="med"/>
                      <a:tailEnd type="none" w="med" len="med"/>
                    </a:lnT>
                    <a:lnB w="9525" cap="flat" cmpd="sng" algn="ctr">
                      <a:solidFill>
                        <a:srgbClr val="D8E8E6"/>
                      </a:solidFill>
                      <a:prstDash val="solid"/>
                      <a:round/>
                      <a:headEnd type="none" w="med" len="med"/>
                      <a:tailEnd type="none" w="med" len="med"/>
                    </a:lnB>
                    <a:solidFill>
                      <a:srgbClr val="FFFFFF"/>
                    </a:solidFill>
                  </a:tcPr>
                </a:tc>
                <a:tc>
                  <a:txBody>
                    <a:bodyPr/>
                    <a:lstStyle/>
                    <a:p>
                      <a:pPr indent="0" marL="0">
                        <a:buNone/>
                      </a:pPr>
                      <a:r>
                        <a:rPr lang="en-US" sz="1200" dirty="0">
                          <a:solidFill>
                            <a:srgbClr val="16243D"/>
                          </a:solidFill>
                          <a:latin typeface="Calibri" pitchFamily="34" charset="0"/>
                          <a:ea typeface="Calibri" pitchFamily="34" charset="-122"/>
                          <a:cs typeface="Calibri" pitchFamily="34" charset="-120"/>
                        </a:rPr>
                        <a:t>Picks the cheapest recovery mix with a linear program, runs a first-come-first-served baseline, drafts messages</a:t>
                      </a:r>
                      <a:endParaRPr lang="en-US" sz="1200" dirty="0">
                        <a:latin typeface="Calibri" charset="0"/>
                        <a:ea typeface="Calibri" charset="0"/>
                        <a:cs typeface="Calibri" charset="0"/>
                      </a:endParaRPr>
                    </a:p>
                  </a:txBody>
                  <a:tcPr marL="91440" marR="91440" marT="45720" marB="45720" anchor="ctr">
                    <a:lnL w="9525" cap="flat" cmpd="sng" algn="ctr">
                      <a:solidFill>
                        <a:srgbClr val="D8E8E6"/>
                      </a:solidFill>
                      <a:prstDash val="solid"/>
                      <a:round/>
                      <a:headEnd type="none" w="med" len="med"/>
                      <a:tailEnd type="none" w="med" len="med"/>
                    </a:lnL>
                    <a:lnR w="9525" cap="flat" cmpd="sng" algn="ctr">
                      <a:solidFill>
                        <a:srgbClr val="D8E8E6"/>
                      </a:solidFill>
                      <a:prstDash val="solid"/>
                      <a:round/>
                      <a:headEnd type="none" w="med" len="med"/>
                      <a:tailEnd type="none" w="med" len="med"/>
                    </a:lnR>
                    <a:lnT w="9525" cap="flat" cmpd="sng" algn="ctr">
                      <a:solidFill>
                        <a:srgbClr val="D8E8E6"/>
                      </a:solidFill>
                      <a:prstDash val="solid"/>
                      <a:round/>
                      <a:headEnd type="none" w="med" len="med"/>
                      <a:tailEnd type="none" w="med" len="med"/>
                    </a:lnT>
                    <a:lnB w="9525" cap="flat" cmpd="sng" algn="ctr">
                      <a:solidFill>
                        <a:srgbClr val="D8E8E6"/>
                      </a:solidFill>
                      <a:prstDash val="solid"/>
                      <a:round/>
                      <a:headEnd type="none" w="med" len="med"/>
                      <a:tailEnd type="none" w="med" len="med"/>
                    </a:lnB>
                    <a:solidFill>
                      <a:srgbClr val="FFFFFF"/>
                    </a:solidFill>
                  </a:tcPr>
                </a:tc>
                <a:tc>
                  <a:txBody>
                    <a:bodyPr/>
                    <a:lstStyle/>
                    <a:p>
                      <a:pPr indent="0" marL="0">
                        <a:buNone/>
                      </a:pPr>
                      <a:r>
                        <a:rPr lang="en-US" sz="1200" dirty="0">
                          <a:solidFill>
                            <a:srgbClr val="16243D"/>
                          </a:solidFill>
                          <a:latin typeface="Calibri" pitchFamily="34" charset="0"/>
                          <a:ea typeface="Calibri" pitchFamily="34" charset="-122"/>
                          <a:cs typeface="Calibri" pitchFamily="34" charset="-120"/>
                        </a:rPr>
                        <a:t>Impact report, supplier options, Critic feedback</a:t>
                      </a:r>
                      <a:endParaRPr lang="en-US" sz="1200" dirty="0">
                        <a:latin typeface="Calibri" charset="0"/>
                        <a:ea typeface="Calibri" charset="0"/>
                        <a:cs typeface="Calibri" charset="0"/>
                      </a:endParaRPr>
                    </a:p>
                  </a:txBody>
                  <a:tcPr marL="91440" marR="91440" marT="45720" marB="45720" anchor="ctr">
                    <a:lnL w="9525" cap="flat" cmpd="sng" algn="ctr">
                      <a:solidFill>
                        <a:srgbClr val="D8E8E6"/>
                      </a:solidFill>
                      <a:prstDash val="solid"/>
                      <a:round/>
                      <a:headEnd type="none" w="med" len="med"/>
                      <a:tailEnd type="none" w="med" len="med"/>
                    </a:lnL>
                    <a:lnR w="9525" cap="flat" cmpd="sng" algn="ctr">
                      <a:solidFill>
                        <a:srgbClr val="D8E8E6"/>
                      </a:solidFill>
                      <a:prstDash val="solid"/>
                      <a:round/>
                      <a:headEnd type="none" w="med" len="med"/>
                      <a:tailEnd type="none" w="med" len="med"/>
                    </a:lnR>
                    <a:lnT w="9525" cap="flat" cmpd="sng" algn="ctr">
                      <a:solidFill>
                        <a:srgbClr val="D8E8E6"/>
                      </a:solidFill>
                      <a:prstDash val="solid"/>
                      <a:round/>
                      <a:headEnd type="none" w="med" len="med"/>
                      <a:tailEnd type="none" w="med" len="med"/>
                    </a:lnT>
                    <a:lnB w="9525" cap="flat" cmpd="sng" algn="ctr">
                      <a:solidFill>
                        <a:srgbClr val="D8E8E6"/>
                      </a:solidFill>
                      <a:prstDash val="solid"/>
                      <a:round/>
                      <a:headEnd type="none" w="med" len="med"/>
                      <a:tailEnd type="none" w="med" len="med"/>
                    </a:lnB>
                    <a:solidFill>
                      <a:srgbClr val="FFFFFF"/>
                    </a:solidFill>
                  </a:tcPr>
                </a:tc>
                <a:tc>
                  <a:txBody>
                    <a:bodyPr/>
                    <a:lstStyle/>
                    <a:p>
                      <a:pPr indent="0" marL="0">
                        <a:buNone/>
                      </a:pPr>
                      <a:r>
                        <a:rPr lang="en-US" sz="1200" dirty="0">
                          <a:solidFill>
                            <a:srgbClr val="16243D"/>
                          </a:solidFill>
                          <a:latin typeface="Calibri" pitchFamily="34" charset="0"/>
                          <a:ea typeface="Calibri" pitchFamily="34" charset="-122"/>
                          <a:cs typeface="Calibri" pitchFamily="34" charset="-120"/>
                        </a:rPr>
                        <a:t>Recovery plan, total cost, baseline cost, messages</a:t>
                      </a:r>
                      <a:endParaRPr lang="en-US" sz="1200" dirty="0">
                        <a:latin typeface="Calibri" charset="0"/>
                        <a:ea typeface="Calibri" charset="0"/>
                        <a:cs typeface="Calibri" charset="0"/>
                      </a:endParaRPr>
                    </a:p>
                  </a:txBody>
                  <a:tcPr marL="91440" marR="91440" marT="45720" marB="45720" anchor="ctr">
                    <a:lnL w="9525" cap="flat" cmpd="sng" algn="ctr">
                      <a:solidFill>
                        <a:srgbClr val="D8E8E6"/>
                      </a:solidFill>
                      <a:prstDash val="solid"/>
                      <a:round/>
                      <a:headEnd type="none" w="med" len="med"/>
                      <a:tailEnd type="none" w="med" len="med"/>
                    </a:lnL>
                    <a:lnR w="9525" cap="flat" cmpd="sng" algn="ctr">
                      <a:solidFill>
                        <a:srgbClr val="D8E8E6"/>
                      </a:solidFill>
                      <a:prstDash val="solid"/>
                      <a:round/>
                      <a:headEnd type="none" w="med" len="med"/>
                      <a:tailEnd type="none" w="med" len="med"/>
                    </a:lnR>
                    <a:lnT w="9525" cap="flat" cmpd="sng" algn="ctr">
                      <a:solidFill>
                        <a:srgbClr val="D8E8E6"/>
                      </a:solidFill>
                      <a:prstDash val="solid"/>
                      <a:round/>
                      <a:headEnd type="none" w="med" len="med"/>
                      <a:tailEnd type="none" w="med" len="med"/>
                    </a:lnT>
                    <a:lnB w="9525" cap="flat" cmpd="sng" algn="ctr">
                      <a:solidFill>
                        <a:srgbClr val="D8E8E6"/>
                      </a:solidFill>
                      <a:prstDash val="solid"/>
                      <a:round/>
                      <a:headEnd type="none" w="med" len="med"/>
                      <a:tailEnd type="none" w="med" len="med"/>
                    </a:lnB>
                    <a:solidFill>
                      <a:srgbClr val="FFFFFF"/>
                    </a:solidFill>
                  </a:tcPr>
                </a:tc>
              </a:tr>
              <a:tr h="566928">
                <a:tc>
                  <a:txBody>
                    <a:bodyPr/>
                    <a:lstStyle/>
                    <a:p>
                      <a:pPr indent="0" marL="0">
                        <a:buNone/>
                      </a:pPr>
                      <a:r>
                        <a:rPr lang="en-US" sz="1300" b="1" dirty="0">
                          <a:solidFill>
                            <a:srgbClr val="16243D"/>
                          </a:solidFill>
                          <a:latin typeface="Calibri" pitchFamily="34" charset="0"/>
                          <a:ea typeface="Calibri" pitchFamily="34" charset="-122"/>
                          <a:cs typeface="Calibri" pitchFamily="34" charset="-120"/>
                        </a:rPr>
                        <a:t>Critic</a:t>
                      </a:r>
                      <a:endParaRPr lang="en-US" sz="1300" dirty="0">
                        <a:latin typeface="Calibri" charset="0"/>
                        <a:ea typeface="Calibri" charset="0"/>
                        <a:cs typeface="Calibri" charset="0"/>
                      </a:endParaRPr>
                    </a:p>
                  </a:txBody>
                  <a:tcPr marL="91440" marR="91440" marT="45720" marB="45720" anchor="ctr">
                    <a:lnL w="9525" cap="flat" cmpd="sng" algn="ctr">
                      <a:solidFill>
                        <a:srgbClr val="D8E8E6"/>
                      </a:solidFill>
                      <a:prstDash val="solid"/>
                      <a:round/>
                      <a:headEnd type="none" w="med" len="med"/>
                      <a:tailEnd type="none" w="med" len="med"/>
                    </a:lnL>
                    <a:lnR w="9525" cap="flat" cmpd="sng" algn="ctr">
                      <a:solidFill>
                        <a:srgbClr val="D8E8E6"/>
                      </a:solidFill>
                      <a:prstDash val="solid"/>
                      <a:round/>
                      <a:headEnd type="none" w="med" len="med"/>
                      <a:tailEnd type="none" w="med" len="med"/>
                    </a:lnR>
                    <a:lnT w="9525" cap="flat" cmpd="sng" algn="ctr">
                      <a:solidFill>
                        <a:srgbClr val="D8E8E6"/>
                      </a:solidFill>
                      <a:prstDash val="solid"/>
                      <a:round/>
                      <a:headEnd type="none" w="med" len="med"/>
                      <a:tailEnd type="none" w="med" len="med"/>
                    </a:lnT>
                    <a:lnB w="9525" cap="flat" cmpd="sng" algn="ctr">
                      <a:solidFill>
                        <a:srgbClr val="D8E8E6"/>
                      </a:solidFill>
                      <a:prstDash val="solid"/>
                      <a:round/>
                      <a:headEnd type="none" w="med" len="med"/>
                      <a:tailEnd type="none" w="med" len="med"/>
                    </a:lnB>
                    <a:solidFill>
                      <a:srgbClr val="EEF4F4"/>
                    </a:solidFill>
                  </a:tcPr>
                </a:tc>
                <a:tc>
                  <a:txBody>
                    <a:bodyPr/>
                    <a:lstStyle/>
                    <a:p>
                      <a:pPr indent="0" marL="0">
                        <a:buNone/>
                      </a:pPr>
                      <a:r>
                        <a:rPr lang="en-US" sz="1200" dirty="0">
                          <a:solidFill>
                            <a:srgbClr val="16243D"/>
                          </a:solidFill>
                          <a:latin typeface="Calibri" pitchFamily="34" charset="0"/>
                          <a:ea typeface="Calibri" pitchFamily="34" charset="-122"/>
                          <a:cs typeface="Calibri" pitchFamily="34" charset="-120"/>
                        </a:rPr>
                        <a:t>Recomputes the cost from raw data and checks the rules</a:t>
                      </a:r>
                      <a:endParaRPr lang="en-US" sz="1200" dirty="0">
                        <a:latin typeface="Calibri" charset="0"/>
                        <a:ea typeface="Calibri" charset="0"/>
                        <a:cs typeface="Calibri" charset="0"/>
                      </a:endParaRPr>
                    </a:p>
                  </a:txBody>
                  <a:tcPr marL="91440" marR="91440" marT="45720" marB="45720" anchor="ctr">
                    <a:lnL w="9525" cap="flat" cmpd="sng" algn="ctr">
                      <a:solidFill>
                        <a:srgbClr val="D8E8E6"/>
                      </a:solidFill>
                      <a:prstDash val="solid"/>
                      <a:round/>
                      <a:headEnd type="none" w="med" len="med"/>
                      <a:tailEnd type="none" w="med" len="med"/>
                    </a:lnL>
                    <a:lnR w="9525" cap="flat" cmpd="sng" algn="ctr">
                      <a:solidFill>
                        <a:srgbClr val="D8E8E6"/>
                      </a:solidFill>
                      <a:prstDash val="solid"/>
                      <a:round/>
                      <a:headEnd type="none" w="med" len="med"/>
                      <a:tailEnd type="none" w="med" len="med"/>
                    </a:lnR>
                    <a:lnT w="9525" cap="flat" cmpd="sng" algn="ctr">
                      <a:solidFill>
                        <a:srgbClr val="D8E8E6"/>
                      </a:solidFill>
                      <a:prstDash val="solid"/>
                      <a:round/>
                      <a:headEnd type="none" w="med" len="med"/>
                      <a:tailEnd type="none" w="med" len="med"/>
                    </a:lnT>
                    <a:lnB w="9525" cap="flat" cmpd="sng" algn="ctr">
                      <a:solidFill>
                        <a:srgbClr val="D8E8E6"/>
                      </a:solidFill>
                      <a:prstDash val="solid"/>
                      <a:round/>
                      <a:headEnd type="none" w="med" len="med"/>
                      <a:tailEnd type="none" w="med" len="med"/>
                    </a:lnB>
                    <a:solidFill>
                      <a:srgbClr val="EEF4F4"/>
                    </a:solidFill>
                  </a:tcPr>
                </a:tc>
                <a:tc>
                  <a:txBody>
                    <a:bodyPr/>
                    <a:lstStyle/>
                    <a:p>
                      <a:pPr indent="0" marL="0">
                        <a:buNone/>
                      </a:pPr>
                      <a:r>
                        <a:rPr lang="en-US" sz="1200" dirty="0">
                          <a:solidFill>
                            <a:srgbClr val="16243D"/>
                          </a:solidFill>
                          <a:latin typeface="Calibri" pitchFamily="34" charset="0"/>
                          <a:ea typeface="Calibri" pitchFamily="34" charset="-122"/>
                          <a:cs typeface="Calibri" pitchFamily="34" charset="-120"/>
                        </a:rPr>
                        <a:t>Plan, messages, source data</a:t>
                      </a:r>
                      <a:endParaRPr lang="en-US" sz="1200" dirty="0">
                        <a:latin typeface="Calibri" charset="0"/>
                        <a:ea typeface="Calibri" charset="0"/>
                        <a:cs typeface="Calibri" charset="0"/>
                      </a:endParaRPr>
                    </a:p>
                  </a:txBody>
                  <a:tcPr marL="91440" marR="91440" marT="45720" marB="45720" anchor="ctr">
                    <a:lnL w="9525" cap="flat" cmpd="sng" algn="ctr">
                      <a:solidFill>
                        <a:srgbClr val="D8E8E6"/>
                      </a:solidFill>
                      <a:prstDash val="solid"/>
                      <a:round/>
                      <a:headEnd type="none" w="med" len="med"/>
                      <a:tailEnd type="none" w="med" len="med"/>
                    </a:lnL>
                    <a:lnR w="9525" cap="flat" cmpd="sng" algn="ctr">
                      <a:solidFill>
                        <a:srgbClr val="D8E8E6"/>
                      </a:solidFill>
                      <a:prstDash val="solid"/>
                      <a:round/>
                      <a:headEnd type="none" w="med" len="med"/>
                      <a:tailEnd type="none" w="med" len="med"/>
                    </a:lnR>
                    <a:lnT w="9525" cap="flat" cmpd="sng" algn="ctr">
                      <a:solidFill>
                        <a:srgbClr val="D8E8E6"/>
                      </a:solidFill>
                      <a:prstDash val="solid"/>
                      <a:round/>
                      <a:headEnd type="none" w="med" len="med"/>
                      <a:tailEnd type="none" w="med" len="med"/>
                    </a:lnT>
                    <a:lnB w="9525" cap="flat" cmpd="sng" algn="ctr">
                      <a:solidFill>
                        <a:srgbClr val="D8E8E6"/>
                      </a:solidFill>
                      <a:prstDash val="solid"/>
                      <a:round/>
                      <a:headEnd type="none" w="med" len="med"/>
                      <a:tailEnd type="none" w="med" len="med"/>
                    </a:lnB>
                    <a:solidFill>
                      <a:srgbClr val="EEF4F4"/>
                    </a:solidFill>
                  </a:tcPr>
                </a:tc>
                <a:tc>
                  <a:txBody>
                    <a:bodyPr/>
                    <a:lstStyle/>
                    <a:p>
                      <a:pPr indent="0" marL="0">
                        <a:buNone/>
                      </a:pPr>
                      <a:r>
                        <a:rPr lang="en-US" sz="1200" dirty="0">
                          <a:solidFill>
                            <a:srgbClr val="16243D"/>
                          </a:solidFill>
                          <a:latin typeface="Calibri" pitchFamily="34" charset="0"/>
                          <a:ea typeface="Calibri" pitchFamily="34" charset="-122"/>
                          <a:cs typeface="Calibri" pitchFamily="34" charset="-120"/>
                        </a:rPr>
                        <a:t>Pass or fail, with issues</a:t>
                      </a:r>
                      <a:endParaRPr lang="en-US" sz="1200" dirty="0">
                        <a:latin typeface="Calibri" charset="0"/>
                        <a:ea typeface="Calibri" charset="0"/>
                        <a:cs typeface="Calibri" charset="0"/>
                      </a:endParaRPr>
                    </a:p>
                  </a:txBody>
                  <a:tcPr marL="91440" marR="91440" marT="45720" marB="45720" anchor="ctr">
                    <a:lnL w="9525" cap="flat" cmpd="sng" algn="ctr">
                      <a:solidFill>
                        <a:srgbClr val="D8E8E6"/>
                      </a:solidFill>
                      <a:prstDash val="solid"/>
                      <a:round/>
                      <a:headEnd type="none" w="med" len="med"/>
                      <a:tailEnd type="none" w="med" len="med"/>
                    </a:lnL>
                    <a:lnR w="9525" cap="flat" cmpd="sng" algn="ctr">
                      <a:solidFill>
                        <a:srgbClr val="D8E8E6"/>
                      </a:solidFill>
                      <a:prstDash val="solid"/>
                      <a:round/>
                      <a:headEnd type="none" w="med" len="med"/>
                      <a:tailEnd type="none" w="med" len="med"/>
                    </a:lnR>
                    <a:lnT w="9525" cap="flat" cmpd="sng" algn="ctr">
                      <a:solidFill>
                        <a:srgbClr val="D8E8E6"/>
                      </a:solidFill>
                      <a:prstDash val="solid"/>
                      <a:round/>
                      <a:headEnd type="none" w="med" len="med"/>
                      <a:tailEnd type="none" w="med" len="med"/>
                    </a:lnT>
                    <a:lnB w="9525" cap="flat" cmpd="sng" algn="ctr">
                      <a:solidFill>
                        <a:srgbClr val="D8E8E6"/>
                      </a:solidFill>
                      <a:prstDash val="solid"/>
                      <a:round/>
                      <a:headEnd type="none" w="med" len="med"/>
                      <a:tailEnd type="none" w="med" len="med"/>
                    </a:lnB>
                    <a:solidFill>
                      <a:srgbClr val="EEF4F4"/>
                    </a:solidFill>
                  </a:tcPr>
                </a:tc>
              </a:tr>
            </a:tbl>
          </a:graphicData>
        </a:graphic>
      </p:graphicFrame>
      <p:sp>
        <p:nvSpPr>
          <p:cNvPr id="4" name="Text 1"/>
          <p:cNvSpPr txBox="1"/>
          <p:nvPr/>
        </p:nvSpPr>
        <p:spPr>
          <a:xfrm>
            <a:off x="457200" y="4343400"/>
            <a:ext cx="8229600" cy="320040"/>
          </a:xfrm>
          <a:prstGeom prst="rect">
            <a:avLst/>
          </a:prstGeom>
          <a:noFill/>
          <a:ln/>
        </p:spPr>
        <p:txBody>
          <a:bodyPr wrap="square" lIns="0" tIns="0" rIns="0" bIns="0" rtlCol="0" anchor="t"/>
          <a:lstStyle/>
          <a:p>
            <a:pPr algn="l" indent="0" marL="0">
              <a:buNone/>
            </a:pPr>
            <a:r>
              <a:rPr lang="en-US" sz="1300" b="1" dirty="0">
                <a:solidFill>
                  <a:schemeClr val="accent1"/>
                </a:solidFill>
                <a:latin typeface="Calibri" pitchFamily="34" charset="0"/>
                <a:ea typeface="Calibri" pitchFamily="34" charset="-122"/>
                <a:cs typeface="Calibri" pitchFamily="34" charset="-120"/>
              </a:rPr>
              <a:t>The Critic reads the raw data, not the Replanner’s own totals, so a wrong number cannot vouch for itself.</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548640"/>
          </a:xfrm>
          <a:prstGeom prst="rect">
            <a:avLst/>
          </a:prstGeom>
          <a:noFill/>
          <a:ln/>
        </p:spPr>
        <p:txBody>
          <a:bodyPr wrap="square" lIns="0" tIns="0" rIns="0" bIns="0" rtlCol="0" anchor="ctr"/>
          <a:lstStyle/>
          <a:p>
            <a:pPr algn="l" indent="0" marL="0">
              <a:buNone/>
            </a:pPr>
            <a:r>
              <a:rPr lang="en-US" sz="2600" b="1" dirty="0">
                <a:solidFill>
                  <a:schemeClr val="tx1"/>
                </a:solidFill>
                <a:latin typeface="Calibri" pitchFamily="34" charset="0"/>
                <a:ea typeface="Calibri" pitchFamily="34" charset="-122"/>
                <a:cs typeface="Calibri" pitchFamily="34" charset="-120"/>
              </a:rPr>
              <a:t>Architecture and data flow</a:t>
            </a:r>
            <a:endParaRPr lang="en-US" sz="2600" dirty="0"/>
          </a:p>
        </p:txBody>
      </p:sp>
      <p:pic>
        <p:nvPicPr>
          <p:cNvPr id="3" name="Image 0" descr="Full architecture diagram: Planner, Impact Analyst, Replanner and Critic with tool calls, data store and exception paths">    </p:cNvPr>
          <p:cNvPicPr>
            <a:picLocks noChangeAspect="1"/>
          </p:cNvPicPr>
          <p:nvPr/>
        </p:nvPicPr>
        <p:blipFill>
          <a:blip r:embed="rId1"/>
          <a:stretch>
            <a:fillRect/>
          </a:stretch>
        </p:blipFill>
        <p:spPr>
          <a:xfrm>
            <a:off x="457200" y="896112"/>
            <a:ext cx="5102198" cy="3794760"/>
          </a:xfrm>
          <a:prstGeom prst="rect">
            <a:avLst/>
          </a:prstGeom>
        </p:spPr>
      </p:pic>
      <p:sp>
        <p:nvSpPr>
          <p:cNvPr id="4" name="Text 1"/>
          <p:cNvSpPr txBox="1"/>
          <p:nvPr/>
        </p:nvSpPr>
        <p:spPr>
          <a:xfrm>
            <a:off x="5833718" y="914400"/>
            <a:ext cx="2853082" cy="1188720"/>
          </a:xfrm>
          <a:prstGeom prst="rect">
            <a:avLst/>
          </a:prstGeom>
          <a:noFill/>
          <a:ln/>
        </p:spPr>
        <p:txBody>
          <a:bodyPr wrap="square" lIns="0" tIns="0" rIns="0" bIns="0" rtlCol="0" anchor="t"/>
          <a:lstStyle/>
          <a:p>
            <a:pPr algn="l" indent="0" marL="0">
              <a:buNone/>
            </a:pPr>
            <a:r>
              <a:rPr lang="en-US" sz="1300" dirty="0">
                <a:solidFill>
                  <a:schemeClr val="tx1"/>
                </a:solidFill>
                <a:latin typeface="Calibri" pitchFamily="34" charset="0"/>
                <a:ea typeface="Calibri" pitchFamily="34" charset="-122"/>
                <a:cs typeface="Calibri" pitchFamily="34" charset="-120"/>
              </a:rPr>
              <a:t>Alert in at the top, released plan at the bottom. Dashed lines are tool calls, red paths are failures.</a:t>
            </a:r>
            <a:endParaRPr lang="en-US" sz="1300" dirty="0"/>
          </a:p>
        </p:txBody>
      </p:sp>
      <p:sp>
        <p:nvSpPr>
          <p:cNvPr id="5" name="Text 2"/>
          <p:cNvSpPr txBox="1"/>
          <p:nvPr/>
        </p:nvSpPr>
        <p:spPr>
          <a:xfrm>
            <a:off x="5833718" y="2240280"/>
            <a:ext cx="2853082" cy="228600"/>
          </a:xfrm>
          <a:prstGeom prst="rect">
            <a:avLst/>
          </a:prstGeom>
          <a:noFill/>
          <a:ln/>
        </p:spPr>
        <p:txBody>
          <a:bodyPr wrap="square" lIns="0" tIns="0" rIns="0" bIns="0" rtlCol="0" anchor="t"/>
          <a:lstStyle/>
          <a:p>
            <a:pPr algn="l" indent="0" marL="0">
              <a:buNone/>
            </a:pPr>
            <a:r>
              <a:rPr lang="en-US" sz="1200" b="1" dirty="0">
                <a:solidFill>
                  <a:schemeClr val="accent1"/>
                </a:solidFill>
                <a:latin typeface="Calibri" pitchFamily="34" charset="0"/>
                <a:ea typeface="Calibri" pitchFamily="34" charset="-122"/>
                <a:cs typeface="Calibri" pitchFamily="34" charset="-120"/>
              </a:rPr>
              <a:t>How to read it</a:t>
            </a:r>
            <a:endParaRPr lang="en-US" sz="1200" dirty="0"/>
          </a:p>
        </p:txBody>
      </p:sp>
      <p:sp>
        <p:nvSpPr>
          <p:cNvPr id="6" name="Shape 3"/>
          <p:cNvSpPr/>
          <p:nvPr/>
        </p:nvSpPr>
        <p:spPr>
          <a:xfrm>
            <a:off x="5833718" y="2697480"/>
            <a:ext cx="457200" cy="0"/>
          </a:xfrm>
          <a:prstGeom prst="line">
            <a:avLst/>
          </a:prstGeom>
          <a:noFill/>
          <a:ln w="22225">
            <a:solidFill>
              <a:schemeClr val="tx1"/>
            </a:solidFill>
            <a:prstDash val="solid"/>
            <a:tailEnd type="triangle"/>
          </a:ln>
        </p:spPr>
      </p:sp>
      <p:sp>
        <p:nvSpPr>
          <p:cNvPr id="7" name="Text 4"/>
          <p:cNvSpPr txBox="1"/>
          <p:nvPr/>
        </p:nvSpPr>
        <p:spPr>
          <a:xfrm>
            <a:off x="6382358" y="2587752"/>
            <a:ext cx="2304442" cy="228600"/>
          </a:xfrm>
          <a:prstGeom prst="rect">
            <a:avLst/>
          </a:prstGeom>
          <a:noFill/>
          <a:ln/>
        </p:spPr>
        <p:txBody>
          <a:bodyPr wrap="square" lIns="0" tIns="0" rIns="0" bIns="0" rtlCol="0" anchor="t"/>
          <a:lstStyle/>
          <a:p>
            <a:pPr algn="l" indent="0" marL="0">
              <a:buNone/>
            </a:pPr>
            <a:r>
              <a:rPr lang="en-US" sz="1150" dirty="0">
                <a:solidFill>
                  <a:schemeClr val="tx1"/>
                </a:solidFill>
                <a:latin typeface="Calibri" pitchFamily="34" charset="0"/>
                <a:ea typeface="Calibri" pitchFamily="34" charset="-122"/>
                <a:cs typeface="Calibri" pitchFamily="34" charset="-120"/>
              </a:rPr>
              <a:t>Data flow</a:t>
            </a:r>
            <a:endParaRPr lang="en-US" sz="1150" dirty="0"/>
          </a:p>
        </p:txBody>
      </p:sp>
      <p:sp>
        <p:nvSpPr>
          <p:cNvPr id="8" name="Shape 5"/>
          <p:cNvSpPr/>
          <p:nvPr/>
        </p:nvSpPr>
        <p:spPr>
          <a:xfrm>
            <a:off x="5833718" y="3063240"/>
            <a:ext cx="457200" cy="0"/>
          </a:xfrm>
          <a:prstGeom prst="line">
            <a:avLst/>
          </a:prstGeom>
          <a:noFill/>
          <a:ln w="22225">
            <a:solidFill>
              <a:schemeClr val="accent1"/>
            </a:solidFill>
            <a:prstDash val="dash"/>
            <a:tailEnd type="triangle"/>
          </a:ln>
        </p:spPr>
      </p:sp>
      <p:sp>
        <p:nvSpPr>
          <p:cNvPr id="9" name="Text 6"/>
          <p:cNvSpPr txBox="1"/>
          <p:nvPr/>
        </p:nvSpPr>
        <p:spPr>
          <a:xfrm>
            <a:off x="6382358" y="2953512"/>
            <a:ext cx="2304442" cy="228600"/>
          </a:xfrm>
          <a:prstGeom prst="rect">
            <a:avLst/>
          </a:prstGeom>
          <a:noFill/>
          <a:ln/>
        </p:spPr>
        <p:txBody>
          <a:bodyPr wrap="square" lIns="0" tIns="0" rIns="0" bIns="0" rtlCol="0" anchor="t"/>
          <a:lstStyle/>
          <a:p>
            <a:pPr algn="l" indent="0" marL="0">
              <a:buNone/>
            </a:pPr>
            <a:r>
              <a:rPr lang="en-US" sz="1150" dirty="0">
                <a:solidFill>
                  <a:schemeClr val="tx1"/>
                </a:solidFill>
                <a:latin typeface="Calibri" pitchFamily="34" charset="0"/>
                <a:ea typeface="Calibri" pitchFamily="34" charset="-122"/>
                <a:cs typeface="Calibri" pitchFamily="34" charset="-120"/>
              </a:rPr>
              <a:t>Tool call on the data store</a:t>
            </a:r>
            <a:endParaRPr lang="en-US" sz="1150" dirty="0"/>
          </a:p>
        </p:txBody>
      </p:sp>
      <p:sp>
        <p:nvSpPr>
          <p:cNvPr id="10" name="Shape 7"/>
          <p:cNvSpPr/>
          <p:nvPr/>
        </p:nvSpPr>
        <p:spPr>
          <a:xfrm>
            <a:off x="5833718" y="3429000"/>
            <a:ext cx="457200" cy="0"/>
          </a:xfrm>
          <a:prstGeom prst="line">
            <a:avLst/>
          </a:prstGeom>
          <a:noFill/>
          <a:ln w="22225">
            <a:solidFill>
              <a:schemeClr val="accent2"/>
            </a:solidFill>
            <a:prstDash val="solid"/>
            <a:tailEnd type="triangle"/>
          </a:ln>
        </p:spPr>
      </p:sp>
      <p:sp>
        <p:nvSpPr>
          <p:cNvPr id="11" name="Text 8"/>
          <p:cNvSpPr txBox="1"/>
          <p:nvPr/>
        </p:nvSpPr>
        <p:spPr>
          <a:xfrm>
            <a:off x="6382358" y="3319272"/>
            <a:ext cx="2304442" cy="228600"/>
          </a:xfrm>
          <a:prstGeom prst="rect">
            <a:avLst/>
          </a:prstGeom>
          <a:noFill/>
          <a:ln/>
        </p:spPr>
        <p:txBody>
          <a:bodyPr wrap="square" lIns="0" tIns="0" rIns="0" bIns="0" rtlCol="0" anchor="t"/>
          <a:lstStyle/>
          <a:p>
            <a:pPr algn="l" indent="0" marL="0">
              <a:buNone/>
            </a:pPr>
            <a:r>
              <a:rPr lang="en-US" sz="1150" dirty="0">
                <a:solidFill>
                  <a:schemeClr val="accent2"/>
                </a:solidFill>
                <a:latin typeface="Calibri" pitchFamily="34" charset="0"/>
                <a:ea typeface="Calibri" pitchFamily="34" charset="-122"/>
                <a:cs typeface="Calibri" pitchFamily="34" charset="-120"/>
              </a:rPr>
              <a:t>Failure path</a:t>
            </a:r>
            <a:endParaRPr lang="en-US" sz="1150" dirty="0"/>
          </a:p>
        </p:txBody>
      </p:sp>
      <p:sp>
        <p:nvSpPr>
          <p:cNvPr id="12" name="Shape 9"/>
          <p:cNvSpPr/>
          <p:nvPr/>
        </p:nvSpPr>
        <p:spPr>
          <a:xfrm>
            <a:off x="5833718" y="3703320"/>
            <a:ext cx="457200" cy="274320"/>
          </a:xfrm>
          <a:prstGeom prst="roundRect">
            <a:avLst>
              <a:gd name="adj" fmla="val 20000"/>
            </a:avLst>
          </a:prstGeom>
          <a:solidFill>
            <a:schemeClr val="bg1"/>
          </a:solidFill>
          <a:ln w="15875">
            <a:solidFill>
              <a:schemeClr val="accent2"/>
            </a:solidFill>
            <a:prstDash val="dash"/>
          </a:ln>
        </p:spPr>
      </p:sp>
      <p:sp>
        <p:nvSpPr>
          <p:cNvPr id="13" name="Text 10"/>
          <p:cNvSpPr txBox="1"/>
          <p:nvPr/>
        </p:nvSpPr>
        <p:spPr>
          <a:xfrm>
            <a:off x="6382358" y="3721608"/>
            <a:ext cx="2304442" cy="228600"/>
          </a:xfrm>
          <a:prstGeom prst="rect">
            <a:avLst/>
          </a:prstGeom>
          <a:noFill/>
          <a:ln/>
        </p:spPr>
        <p:txBody>
          <a:bodyPr wrap="square" lIns="0" tIns="0" rIns="0" bIns="0" rtlCol="0" anchor="t"/>
          <a:lstStyle/>
          <a:p>
            <a:pPr algn="l" indent="0" marL="0">
              <a:buNone/>
            </a:pPr>
            <a:r>
              <a:rPr lang="en-US" sz="1150" dirty="0">
                <a:solidFill>
                  <a:schemeClr val="accent2"/>
                </a:solidFill>
                <a:latin typeface="Calibri" pitchFamily="34" charset="0"/>
                <a:ea typeface="Calibri" pitchFamily="34" charset="-122"/>
                <a:cs typeface="Calibri" pitchFamily="34" charset="-120"/>
              </a:rPr>
              <a:t>Exception handling</a:t>
            </a:r>
            <a:endParaRPr lang="en-US" sz="11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548640"/>
          </a:xfrm>
          <a:prstGeom prst="rect">
            <a:avLst/>
          </a:prstGeom>
          <a:noFill/>
          <a:ln/>
        </p:spPr>
        <p:txBody>
          <a:bodyPr wrap="square" lIns="0" tIns="0" rIns="0" bIns="0" rtlCol="0" anchor="ctr"/>
          <a:lstStyle/>
          <a:p>
            <a:pPr algn="l" indent="0" marL="0">
              <a:buNone/>
            </a:pPr>
            <a:r>
              <a:rPr lang="en-US" sz="2600" b="1" dirty="0">
                <a:solidFill>
                  <a:schemeClr val="tx1"/>
                </a:solidFill>
                <a:latin typeface="Calibri" pitchFamily="34" charset="0"/>
                <a:ea typeface="Calibri" pitchFamily="34" charset="-122"/>
                <a:cs typeface="Calibri" pitchFamily="34" charset="-120"/>
              </a:rPr>
              <a:t>Orchestration and exception handling</a:t>
            </a:r>
            <a:endParaRPr lang="en-US" sz="2600" dirty="0"/>
          </a:p>
        </p:txBody>
      </p:sp>
      <p:sp>
        <p:nvSpPr>
          <p:cNvPr id="3" name="Text 1"/>
          <p:cNvSpPr txBox="1"/>
          <p:nvPr/>
        </p:nvSpPr>
        <p:spPr>
          <a:xfrm>
            <a:off x="457200" y="914400"/>
            <a:ext cx="3566160" cy="274320"/>
          </a:xfrm>
          <a:prstGeom prst="rect">
            <a:avLst/>
          </a:prstGeom>
          <a:noFill/>
          <a:ln/>
        </p:spPr>
        <p:txBody>
          <a:bodyPr wrap="square" lIns="0" tIns="0" rIns="0" bIns="0" rtlCol="0" anchor="t"/>
          <a:lstStyle/>
          <a:p>
            <a:pPr algn="l" indent="0" marL="0">
              <a:buNone/>
            </a:pPr>
            <a:r>
              <a:rPr lang="en-US" sz="1500" b="1" dirty="0">
                <a:solidFill>
                  <a:schemeClr val="accent1"/>
                </a:solidFill>
                <a:latin typeface="Calibri" pitchFamily="34" charset="0"/>
                <a:ea typeface="Calibri" pitchFamily="34" charset="-122"/>
                <a:cs typeface="Calibri" pitchFamily="34" charset="-120"/>
              </a:rPr>
              <a:t>Normal run</a:t>
            </a:r>
            <a:endParaRPr lang="en-US" sz="1500" dirty="0"/>
          </a:p>
        </p:txBody>
      </p:sp>
      <p:sp>
        <p:nvSpPr>
          <p:cNvPr id="5" name="Text 3"/>
          <p:cNvSpPr txBox="1"/>
          <p:nvPr/>
        </p:nvSpPr>
        <p:spPr>
          <a:xfrm>
            <a:off x="457200" y="1298448"/>
            <a:ext cx="3566160" cy="457200"/>
          </a:xfrm>
          <a:prstGeom prst="rect">
            <a:avLst/>
          </a:prstGeom>
          <a:noFill/>
          <a:ln/>
        </p:spPr>
        <p:txBody>
          <a:bodyPr wrap="square" lIns="0" tIns="0" rIns="0" bIns="0" rtlCol="0" anchor="t"/>
          <a:lstStyle/>
          <a:p>
            <a:pPr algn="l" indent="-274320" marL="274320">
              <a:buNone/>
            </a:pPr>
            <a:r>
              <a:rPr lang="en-US" sz="1200" dirty="0" b="1">
                <a:solidFill>
                  <a:schemeClr val="accent1"/>
                </a:solidFill>
                <a:latin typeface="Calibri" pitchFamily="34" charset="0"/>
                <a:ea typeface="Calibri" pitchFamily="34" charset="-122"/>
                <a:cs typeface="Calibri" pitchFamily="34" charset="-120"/>
              </a:rPr>
              <a:t>1	</a:t>
            </a:r>
            <a:r>
              <a:rPr lang="en-US" sz="1200" dirty="0">
                <a:solidFill>
                  <a:schemeClr val="tx1"/>
                </a:solidFill>
                <a:latin typeface="Calibri" pitchFamily="34" charset="0"/>
                <a:ea typeface="Calibri" pitchFamily="34" charset="-122"/>
                <a:cs typeface="Calibri" pitchFamily="34" charset="-120"/>
              </a:rPr>
              <a:t>The Planner validates the alert and starts a run with one shared state</a:t>
            </a:r>
            <a:endParaRPr lang="en-US" sz="1200" dirty="0"/>
          </a:p>
        </p:txBody>
      </p:sp>
      <p:sp>
        <p:nvSpPr>
          <p:cNvPr id="7" name="Text 5"/>
          <p:cNvSpPr txBox="1"/>
          <p:nvPr/>
        </p:nvSpPr>
        <p:spPr>
          <a:xfrm>
            <a:off x="457200" y="1901952"/>
            <a:ext cx="3566160" cy="457200"/>
          </a:xfrm>
          <a:prstGeom prst="rect">
            <a:avLst/>
          </a:prstGeom>
          <a:noFill/>
          <a:ln/>
        </p:spPr>
        <p:txBody>
          <a:bodyPr wrap="square" lIns="0" tIns="0" rIns="0" bIns="0" rtlCol="0" anchor="t"/>
          <a:lstStyle/>
          <a:p>
            <a:pPr algn="l" indent="-274320" marL="274320">
              <a:buNone/>
            </a:pPr>
            <a:r>
              <a:rPr lang="en-US" sz="1200" dirty="0" b="1">
                <a:solidFill>
                  <a:schemeClr val="accent1"/>
                </a:solidFill>
                <a:latin typeface="Calibri" pitchFamily="34" charset="0"/>
                <a:ea typeface="Calibri" pitchFamily="34" charset="-122"/>
                <a:cs typeface="Calibri" pitchFamily="34" charset="-120"/>
              </a:rPr>
              <a:t>2	</a:t>
            </a:r>
            <a:r>
              <a:rPr lang="en-US" sz="1200" dirty="0">
                <a:solidFill>
                  <a:schemeClr val="tx1"/>
                </a:solidFill>
                <a:latin typeface="Calibri" pitchFamily="34" charset="0"/>
                <a:ea typeface="Calibri" pitchFamily="34" charset="-122"/>
                <a:cs typeface="Calibri" pitchFamily="34" charset="-120"/>
              </a:rPr>
              <a:t>Impact Analyst, Replanner and Critic run in that order</a:t>
            </a:r>
            <a:endParaRPr lang="en-US" sz="1200" dirty="0"/>
          </a:p>
        </p:txBody>
      </p:sp>
      <p:sp>
        <p:nvSpPr>
          <p:cNvPr id="9" name="Text 7"/>
          <p:cNvSpPr txBox="1"/>
          <p:nvPr/>
        </p:nvSpPr>
        <p:spPr>
          <a:xfrm>
            <a:off x="457200" y="2331720"/>
            <a:ext cx="3566160" cy="365760"/>
          </a:xfrm>
          <a:prstGeom prst="rect">
            <a:avLst/>
          </a:prstGeom>
          <a:noFill/>
          <a:ln/>
        </p:spPr>
        <p:txBody>
          <a:bodyPr wrap="square" lIns="0" tIns="0" rIns="0" bIns="0" rtlCol="0" anchor="t"/>
          <a:lstStyle/>
          <a:p>
            <a:pPr algn="l" indent="-274320" marL="274320">
              <a:buNone/>
            </a:pPr>
            <a:r>
              <a:rPr lang="en-US" sz="1200" dirty="0" b="1">
                <a:solidFill>
                  <a:schemeClr val="accent1"/>
                </a:solidFill>
                <a:latin typeface="Calibri" pitchFamily="34" charset="0"/>
                <a:ea typeface="Calibri" pitchFamily="34" charset="-122"/>
                <a:cs typeface="Calibri" pitchFamily="34" charset="-120"/>
              </a:rPr>
              <a:t>3	</a:t>
            </a:r>
            <a:r>
              <a:rPr lang="en-US" sz="1200" dirty="0">
                <a:solidFill>
                  <a:schemeClr val="tx1"/>
                </a:solidFill>
                <a:latin typeface="Calibri" pitchFamily="34" charset="0"/>
                <a:ea typeface="Calibri" pitchFamily="34" charset="-122"/>
                <a:cs typeface="Calibri" pitchFamily="34" charset="-120"/>
              </a:rPr>
              <a:t>Pass: the plan goes to the human planner</a:t>
            </a:r>
            <a:endParaRPr lang="en-US" sz="1200" dirty="0"/>
          </a:p>
        </p:txBody>
      </p:sp>
      <p:sp>
        <p:nvSpPr>
          <p:cNvPr id="11" name="Text 9"/>
          <p:cNvSpPr txBox="1"/>
          <p:nvPr/>
        </p:nvSpPr>
        <p:spPr>
          <a:xfrm>
            <a:off x="457200" y="2761488"/>
            <a:ext cx="3566160" cy="685800"/>
          </a:xfrm>
          <a:prstGeom prst="rect">
            <a:avLst/>
          </a:prstGeom>
          <a:noFill/>
          <a:ln/>
        </p:spPr>
        <p:txBody>
          <a:bodyPr wrap="square" lIns="0" tIns="0" rIns="0" bIns="0" rtlCol="0" anchor="t"/>
          <a:lstStyle/>
          <a:p>
            <a:pPr algn="l" indent="-274320" marL="274320">
              <a:buNone/>
            </a:pPr>
            <a:r>
              <a:rPr lang="en-US" sz="1200" dirty="0" b="1">
                <a:solidFill>
                  <a:schemeClr val="accent1"/>
                </a:solidFill>
                <a:latin typeface="Calibri" pitchFamily="34" charset="0"/>
                <a:ea typeface="Calibri" pitchFamily="34" charset="-122"/>
                <a:cs typeface="Calibri" pitchFamily="34" charset="-120"/>
              </a:rPr>
              <a:t>4	</a:t>
            </a:r>
            <a:r>
              <a:rPr lang="en-US" sz="1200" dirty="0">
                <a:solidFill>
                  <a:schemeClr val="tx1"/>
                </a:solidFill>
                <a:latin typeface="Calibri" pitchFamily="34" charset="0"/>
                <a:ea typeface="Calibri" pitchFamily="34" charset="-122"/>
                <a:cs typeface="Calibri" pitchFamily="34" charset="-120"/>
              </a:rPr>
              <a:t>Fail: back to the Replanner with feedback, up to two retries, then escalation to a human with the full log</a:t>
            </a:r>
            <a:endParaRPr lang="en-US" sz="1200" dirty="0"/>
          </a:p>
        </p:txBody>
      </p:sp>
      <p:sp>
        <p:nvSpPr>
          <p:cNvPr id="12" name="Shape 10"/>
          <p:cNvSpPr/>
          <p:nvPr/>
        </p:nvSpPr>
        <p:spPr>
          <a:xfrm>
            <a:off x="457200" y="3429000"/>
            <a:ext cx="3566160" cy="457200"/>
          </a:xfrm>
          <a:prstGeom prst="roundRect">
            <a:avLst>
              <a:gd name="adj" fmla="val 12000"/>
            </a:avLst>
          </a:prstGeom>
          <a:solidFill>
            <a:schemeClr val="accent4"/>
          </a:solidFill>
          <a:ln/>
        </p:spPr>
      </p:sp>
      <p:sp>
        <p:nvSpPr>
          <p:cNvPr id="13" name="Text 11"/>
          <p:cNvSpPr txBox="1"/>
          <p:nvPr/>
        </p:nvSpPr>
        <p:spPr>
          <a:xfrm>
            <a:off x="548640" y="3429000"/>
            <a:ext cx="3383280" cy="457200"/>
          </a:xfrm>
          <a:prstGeom prst="rect">
            <a:avLst/>
          </a:prstGeom>
          <a:noFill/>
          <a:ln/>
        </p:spPr>
        <p:txBody>
          <a:bodyPr wrap="square" lIns="0" tIns="0" rIns="0" bIns="0" rtlCol="0" anchor="ctr"/>
          <a:lstStyle/>
          <a:p>
            <a:pPr algn="l" indent="0" marL="0">
              <a:buNone/>
            </a:pPr>
            <a:r>
              <a:rPr lang="en-US" sz="1100" b="1" dirty="0">
                <a:solidFill>
                  <a:schemeClr val="tx1"/>
                </a:solidFill>
                <a:latin typeface="Calibri" pitchFamily="34" charset="0"/>
                <a:ea typeface="Calibri" pitchFamily="34" charset="-122"/>
                <a:cs typeface="Calibri" pitchFamily="34" charset="-120"/>
              </a:rPr>
              <a:t>Second alert mid-run: </a:t>
            </a:r>
            <a:pPr algn="l" indent="0" marL="0">
              <a:buNone/>
            </a:pPr>
            <a:r>
              <a:rPr lang="en-US" sz="1100" dirty="0">
                <a:solidFill>
                  <a:schemeClr val="tx1"/>
                </a:solidFill>
                <a:latin typeface="Calibri" pitchFamily="34" charset="0"/>
                <a:ea typeface="Calibri" pitchFamily="34" charset="-122"/>
                <a:cs typeface="Calibri" pitchFamily="34" charset="-120"/>
              </a:rPr>
              <a:t>the Planner merges it and restarts at the Impact Analyst.</a:t>
            </a:r>
            <a:endParaRPr lang="en-US" sz="1100" dirty="0"/>
          </a:p>
        </p:txBody>
      </p:sp>
      <p:sp>
        <p:nvSpPr>
          <p:cNvPr id="14" name="Text 12"/>
          <p:cNvSpPr txBox="1"/>
          <p:nvPr/>
        </p:nvSpPr>
        <p:spPr>
          <a:xfrm>
            <a:off x="4343400" y="914400"/>
            <a:ext cx="4343400" cy="274320"/>
          </a:xfrm>
          <a:prstGeom prst="rect">
            <a:avLst/>
          </a:prstGeom>
          <a:noFill/>
          <a:ln/>
        </p:spPr>
        <p:txBody>
          <a:bodyPr wrap="square" lIns="0" tIns="0" rIns="0" bIns="0" rtlCol="0" anchor="t"/>
          <a:lstStyle/>
          <a:p>
            <a:pPr algn="l" indent="0" marL="0">
              <a:buNone/>
            </a:pPr>
            <a:r>
              <a:rPr lang="en-US" sz="1500" b="1" dirty="0">
                <a:solidFill>
                  <a:schemeClr val="accent2"/>
                </a:solidFill>
                <a:latin typeface="Calibri" pitchFamily="34" charset="0"/>
                <a:ea typeface="Calibri" pitchFamily="34" charset="-122"/>
                <a:cs typeface="Calibri" pitchFamily="34" charset="-120"/>
              </a:rPr>
              <a:t>When things go wrong</a:t>
            </a:r>
            <a:endParaRPr lang="en-US" sz="1500" dirty="0"/>
          </a:p>
        </p:txBody>
      </p:sp>
      <p:sp>
        <p:nvSpPr>
          <p:cNvPr id="15" name="Shape 13"/>
          <p:cNvSpPr/>
          <p:nvPr/>
        </p:nvSpPr>
        <p:spPr>
          <a:xfrm>
            <a:off x="4343400" y="1280160"/>
            <a:ext cx="2103120" cy="786384"/>
          </a:xfrm>
          <a:prstGeom prst="roundRect">
            <a:avLst>
              <a:gd name="adj" fmla="val 6977"/>
            </a:avLst>
          </a:prstGeom>
          <a:solidFill>
            <a:schemeClr val="accent5"/>
          </a:solidFill>
          <a:ln/>
        </p:spPr>
      </p:sp>
      <p:sp>
        <p:nvSpPr>
          <p:cNvPr id="16" name="Text 14"/>
          <p:cNvSpPr txBox="1"/>
          <p:nvPr/>
        </p:nvSpPr>
        <p:spPr>
          <a:xfrm>
            <a:off x="4416552" y="1325880"/>
            <a:ext cx="1956816" cy="713232"/>
          </a:xfrm>
          <a:prstGeom prst="rect">
            <a:avLst/>
          </a:prstGeom>
          <a:noFill/>
          <a:ln/>
        </p:spPr>
        <p:txBody>
          <a:bodyPr wrap="square" lIns="0" tIns="0" rIns="0" bIns="0" rtlCol="0" anchor="t"/>
          <a:lstStyle/>
          <a:p>
            <a:pPr algn="l" indent="0" marL="0">
              <a:buNone/>
            </a:pPr>
            <a:r>
              <a:rPr lang="en-US" sz="1050" b="1" dirty="0">
                <a:solidFill>
                  <a:schemeClr val="accent2"/>
                </a:solidFill>
                <a:latin typeface="Calibri" pitchFamily="34" charset="0"/>
                <a:ea typeface="Calibri" pitchFamily="34" charset="-122"/>
                <a:cs typeface="Calibri" pitchFamily="34" charset="-120"/>
              </a:rPr>
              <a:t>Bad alert</a:t>
            </a:r>
            <a:endParaRPr lang="en-US" sz="1050" dirty="0"/>
          </a:p>
          <a:p>
            <a:pPr algn="l" indent="0" marL="0">
              <a:buNone/>
            </a:pPr>
            <a:r>
              <a:rPr lang="en-US" sz="1050" dirty="0">
                <a:solidFill>
                  <a:schemeClr val="tx1"/>
                </a:solidFill>
                <a:latin typeface="Calibri" pitchFamily="34" charset="0"/>
                <a:ea typeface="Calibri" pitchFamily="34" charset="-122"/>
                <a:cs typeface="Calibri" pitchFamily="34" charset="-120"/>
              </a:rPr>
              <a:t>Unknown supplier or part, delay outside 1 to 60 days, or unparseable text. The run stops and says why.</a:t>
            </a:r>
            <a:endParaRPr lang="en-US" sz="1050" dirty="0"/>
          </a:p>
        </p:txBody>
      </p:sp>
      <p:sp>
        <p:nvSpPr>
          <p:cNvPr id="17" name="Shape 15"/>
          <p:cNvSpPr/>
          <p:nvPr/>
        </p:nvSpPr>
        <p:spPr>
          <a:xfrm>
            <a:off x="6537960" y="1280160"/>
            <a:ext cx="2103120" cy="786384"/>
          </a:xfrm>
          <a:prstGeom prst="roundRect">
            <a:avLst>
              <a:gd name="adj" fmla="val 6977"/>
            </a:avLst>
          </a:prstGeom>
          <a:solidFill>
            <a:schemeClr val="accent5"/>
          </a:solidFill>
          <a:ln/>
        </p:spPr>
      </p:sp>
      <p:sp>
        <p:nvSpPr>
          <p:cNvPr id="18" name="Text 16"/>
          <p:cNvSpPr txBox="1"/>
          <p:nvPr/>
        </p:nvSpPr>
        <p:spPr>
          <a:xfrm>
            <a:off x="6611112" y="1325880"/>
            <a:ext cx="1956816" cy="713232"/>
          </a:xfrm>
          <a:prstGeom prst="rect">
            <a:avLst/>
          </a:prstGeom>
          <a:noFill/>
          <a:ln/>
        </p:spPr>
        <p:txBody>
          <a:bodyPr wrap="square" lIns="0" tIns="0" rIns="0" bIns="0" rtlCol="0" anchor="t"/>
          <a:lstStyle/>
          <a:p>
            <a:pPr algn="l" indent="0" marL="0">
              <a:buNone/>
            </a:pPr>
            <a:r>
              <a:rPr lang="en-US" sz="1050" b="1" dirty="0">
                <a:solidFill>
                  <a:schemeClr val="accent2"/>
                </a:solidFill>
                <a:latin typeface="Calibri" pitchFamily="34" charset="0"/>
                <a:ea typeface="Calibri" pitchFamily="34" charset="-122"/>
                <a:cs typeface="Calibri" pitchFamily="34" charset="-120"/>
              </a:rPr>
              <a:t>No impact</a:t>
            </a:r>
            <a:endParaRPr lang="en-US" sz="1050" dirty="0"/>
          </a:p>
          <a:p>
            <a:pPr algn="l" indent="0" marL="0">
              <a:buNone/>
            </a:pPr>
            <a:r>
              <a:rPr lang="en-US" sz="1050" dirty="0">
                <a:solidFill>
                  <a:schemeClr val="tx1"/>
                </a:solidFill>
                <a:latin typeface="Calibri" pitchFamily="34" charset="0"/>
                <a:ea typeface="Calibri" pitchFamily="34" charset="-122"/>
                <a:cs typeface="Calibri" pitchFamily="34" charset="-120"/>
              </a:rPr>
              <a:t>The part affects no open orders. The user is told and nothing is replanned.</a:t>
            </a:r>
            <a:endParaRPr lang="en-US" sz="1050" dirty="0"/>
          </a:p>
        </p:txBody>
      </p:sp>
      <p:sp>
        <p:nvSpPr>
          <p:cNvPr id="19" name="Shape 17"/>
          <p:cNvSpPr/>
          <p:nvPr/>
        </p:nvSpPr>
        <p:spPr>
          <a:xfrm>
            <a:off x="4343400" y="2130552"/>
            <a:ext cx="2103120" cy="786384"/>
          </a:xfrm>
          <a:prstGeom prst="roundRect">
            <a:avLst>
              <a:gd name="adj" fmla="val 6977"/>
            </a:avLst>
          </a:prstGeom>
          <a:solidFill>
            <a:schemeClr val="accent5"/>
          </a:solidFill>
          <a:ln/>
        </p:spPr>
      </p:sp>
      <p:sp>
        <p:nvSpPr>
          <p:cNvPr id="20" name="Text 18"/>
          <p:cNvSpPr txBox="1"/>
          <p:nvPr/>
        </p:nvSpPr>
        <p:spPr>
          <a:xfrm>
            <a:off x="4416552" y="2176272"/>
            <a:ext cx="1956816" cy="713232"/>
          </a:xfrm>
          <a:prstGeom prst="rect">
            <a:avLst/>
          </a:prstGeom>
          <a:noFill/>
          <a:ln/>
        </p:spPr>
        <p:txBody>
          <a:bodyPr wrap="square" lIns="0" tIns="0" rIns="0" bIns="0" rtlCol="0" anchor="t"/>
          <a:lstStyle/>
          <a:p>
            <a:pPr algn="l" indent="0" marL="0">
              <a:buNone/>
            </a:pPr>
            <a:r>
              <a:rPr lang="en-US" sz="1050" b="1" dirty="0">
                <a:solidFill>
                  <a:schemeClr val="accent2"/>
                </a:solidFill>
                <a:latin typeface="Calibri" pitchFamily="34" charset="0"/>
                <a:ea typeface="Calibri" pitchFamily="34" charset="-122"/>
                <a:cs typeface="Calibri" pitchFamily="34" charset="-120"/>
              </a:rPr>
              <a:t>Missing stock record</a:t>
            </a:r>
            <a:endParaRPr lang="en-US" sz="1050" dirty="0"/>
          </a:p>
          <a:p>
            <a:pPr algn="l" indent="0" marL="0">
              <a:buNone/>
            </a:pPr>
            <a:r>
              <a:rPr lang="en-US" sz="1050" dirty="0">
                <a:solidFill>
                  <a:schemeClr val="tx1"/>
                </a:solidFill>
                <a:latin typeface="Calibri" pitchFamily="34" charset="0"/>
                <a:ea typeface="Calibri" pitchFamily="34" charset="-122"/>
                <a:cs typeface="Calibri" pitchFamily="34" charset="-120"/>
              </a:rPr>
              <a:t>Treated as zero, so the shortage shows up instead of hiding.</a:t>
            </a:r>
            <a:endParaRPr lang="en-US" sz="1050" dirty="0"/>
          </a:p>
        </p:txBody>
      </p:sp>
      <p:sp>
        <p:nvSpPr>
          <p:cNvPr id="21" name="Shape 19"/>
          <p:cNvSpPr/>
          <p:nvPr/>
        </p:nvSpPr>
        <p:spPr>
          <a:xfrm>
            <a:off x="6537960" y="2130552"/>
            <a:ext cx="2103120" cy="786384"/>
          </a:xfrm>
          <a:prstGeom prst="roundRect">
            <a:avLst>
              <a:gd name="adj" fmla="val 6977"/>
            </a:avLst>
          </a:prstGeom>
          <a:solidFill>
            <a:schemeClr val="accent5"/>
          </a:solidFill>
          <a:ln/>
        </p:spPr>
      </p:sp>
      <p:sp>
        <p:nvSpPr>
          <p:cNvPr id="22" name="Text 20"/>
          <p:cNvSpPr txBox="1"/>
          <p:nvPr/>
        </p:nvSpPr>
        <p:spPr>
          <a:xfrm>
            <a:off x="6611112" y="2176272"/>
            <a:ext cx="1956816" cy="713232"/>
          </a:xfrm>
          <a:prstGeom prst="rect">
            <a:avLst/>
          </a:prstGeom>
          <a:noFill/>
          <a:ln/>
        </p:spPr>
        <p:txBody>
          <a:bodyPr wrap="square" lIns="0" tIns="0" rIns="0" bIns="0" rtlCol="0" anchor="t"/>
          <a:lstStyle/>
          <a:p>
            <a:pPr algn="l" indent="0" marL="0">
              <a:buNone/>
            </a:pPr>
            <a:r>
              <a:rPr lang="en-US" sz="1050" b="1" dirty="0">
                <a:solidFill>
                  <a:schemeClr val="accent2"/>
                </a:solidFill>
                <a:latin typeface="Calibri" pitchFamily="34" charset="0"/>
                <a:ea typeface="Calibri" pitchFamily="34" charset="-122"/>
                <a:cs typeface="Calibri" pitchFamily="34" charset="-120"/>
              </a:rPr>
              <a:t>No feasible plan</a:t>
            </a:r>
            <a:endParaRPr lang="en-US" sz="1050" dirty="0"/>
          </a:p>
          <a:p>
            <a:pPr algn="l" indent="0" marL="0">
              <a:buNone/>
            </a:pPr>
            <a:r>
              <a:rPr lang="en-US" sz="1050" dirty="0">
                <a:solidFill>
                  <a:schemeClr val="tx1"/>
                </a:solidFill>
                <a:latin typeface="Calibri" pitchFamily="34" charset="0"/>
                <a:ea typeface="Calibri" pitchFamily="34" charset="-122"/>
                <a:cs typeface="Calibri" pitchFamily="34" charset="-120"/>
              </a:rPr>
              <a:t>The solver finds none. Fall back to the baseline plan and mark it unoptimized.</a:t>
            </a:r>
            <a:endParaRPr lang="en-US" sz="1050" dirty="0"/>
          </a:p>
        </p:txBody>
      </p:sp>
      <p:sp>
        <p:nvSpPr>
          <p:cNvPr id="23" name="Shape 21"/>
          <p:cNvSpPr/>
          <p:nvPr/>
        </p:nvSpPr>
        <p:spPr>
          <a:xfrm>
            <a:off x="4343400" y="2980944"/>
            <a:ext cx="2103120" cy="786384"/>
          </a:xfrm>
          <a:prstGeom prst="roundRect">
            <a:avLst>
              <a:gd name="adj" fmla="val 6977"/>
            </a:avLst>
          </a:prstGeom>
          <a:solidFill>
            <a:schemeClr val="accent5"/>
          </a:solidFill>
          <a:ln/>
        </p:spPr>
      </p:sp>
      <p:sp>
        <p:nvSpPr>
          <p:cNvPr id="24" name="Text 22"/>
          <p:cNvSpPr txBox="1"/>
          <p:nvPr/>
        </p:nvSpPr>
        <p:spPr>
          <a:xfrm>
            <a:off x="4416552" y="3026664"/>
            <a:ext cx="1956816" cy="713232"/>
          </a:xfrm>
          <a:prstGeom prst="rect">
            <a:avLst/>
          </a:prstGeom>
          <a:noFill/>
          <a:ln/>
        </p:spPr>
        <p:txBody>
          <a:bodyPr wrap="square" lIns="0" tIns="0" rIns="0" bIns="0" rtlCol="0" anchor="t"/>
          <a:lstStyle/>
          <a:p>
            <a:pPr algn="l" indent="0" marL="0">
              <a:buNone/>
            </a:pPr>
            <a:r>
              <a:rPr lang="en-US" sz="1050" b="1" dirty="0">
                <a:solidFill>
                  <a:schemeClr val="accent2"/>
                </a:solidFill>
                <a:latin typeface="Calibri" pitchFamily="34" charset="0"/>
                <a:ea typeface="Calibri" pitchFamily="34" charset="-122"/>
                <a:cs typeface="Calibri" pitchFamily="34" charset="-120"/>
              </a:rPr>
              <a:t>Message tool fails</a:t>
            </a:r>
            <a:endParaRPr lang="en-US" sz="1050" dirty="0"/>
          </a:p>
          <a:p>
            <a:pPr algn="l" indent="0" marL="0">
              <a:buNone/>
            </a:pPr>
            <a:r>
              <a:rPr lang="en-US" sz="1050" dirty="0">
                <a:solidFill>
                  <a:schemeClr val="tx1"/>
                </a:solidFill>
                <a:latin typeface="Calibri" pitchFamily="34" charset="0"/>
                <a:ea typeface="Calibri" pitchFamily="34" charset="-122"/>
                <a:cs typeface="Calibri" pitchFamily="34" charset="-120"/>
              </a:rPr>
              <a:t>If it fails or times out, the template message is used.</a:t>
            </a:r>
            <a:endParaRPr lang="en-US" sz="1050" dirty="0"/>
          </a:p>
        </p:txBody>
      </p:sp>
      <p:sp>
        <p:nvSpPr>
          <p:cNvPr id="25" name="Shape 23"/>
          <p:cNvSpPr/>
          <p:nvPr/>
        </p:nvSpPr>
        <p:spPr>
          <a:xfrm>
            <a:off x="6537960" y="2980944"/>
            <a:ext cx="2103120" cy="786384"/>
          </a:xfrm>
          <a:prstGeom prst="roundRect">
            <a:avLst>
              <a:gd name="adj" fmla="val 6977"/>
            </a:avLst>
          </a:prstGeom>
          <a:solidFill>
            <a:schemeClr val="accent5"/>
          </a:solidFill>
          <a:ln/>
        </p:spPr>
      </p:sp>
      <p:sp>
        <p:nvSpPr>
          <p:cNvPr id="26" name="Text 24"/>
          <p:cNvSpPr txBox="1"/>
          <p:nvPr/>
        </p:nvSpPr>
        <p:spPr>
          <a:xfrm>
            <a:off x="6611112" y="3026664"/>
            <a:ext cx="1956816" cy="713232"/>
          </a:xfrm>
          <a:prstGeom prst="rect">
            <a:avLst/>
          </a:prstGeom>
          <a:noFill/>
          <a:ln/>
        </p:spPr>
        <p:txBody>
          <a:bodyPr wrap="square" lIns="0" tIns="0" rIns="0" bIns="0" rtlCol="0" anchor="t"/>
          <a:lstStyle/>
          <a:p>
            <a:pPr algn="l" indent="0" marL="0">
              <a:buNone/>
            </a:pPr>
            <a:r>
              <a:rPr lang="en-US" sz="1050" b="1" dirty="0">
                <a:solidFill>
                  <a:schemeClr val="accent2"/>
                </a:solidFill>
                <a:latin typeface="Calibri" pitchFamily="34" charset="0"/>
                <a:ea typeface="Calibri" pitchFamily="34" charset="-122"/>
                <a:cs typeface="Calibri" pitchFamily="34" charset="-120"/>
              </a:rPr>
              <a:t>Critic check crashes</a:t>
            </a:r>
            <a:endParaRPr lang="en-US" sz="1050" dirty="0"/>
          </a:p>
          <a:p>
            <a:pPr algn="l" indent="0" marL="0">
              <a:buNone/>
            </a:pPr>
            <a:r>
              <a:rPr lang="en-US" sz="1050" dirty="0">
                <a:solidFill>
                  <a:schemeClr val="tx1"/>
                </a:solidFill>
                <a:latin typeface="Calibri" pitchFamily="34" charset="0"/>
                <a:ea typeface="Calibri" pitchFamily="34" charset="-122"/>
                <a:cs typeface="Calibri" pitchFamily="34" charset="-120"/>
              </a:rPr>
              <a:t>Counts as a fail, never a pass.</a:t>
            </a:r>
            <a:endParaRPr lang="en-US" sz="1050" dirty="0"/>
          </a:p>
        </p:txBody>
      </p:sp>
      <p:sp>
        <p:nvSpPr>
          <p:cNvPr id="27" name="Text 25"/>
          <p:cNvSpPr txBox="1"/>
          <p:nvPr/>
        </p:nvSpPr>
        <p:spPr>
          <a:xfrm>
            <a:off x="457200" y="3931920"/>
            <a:ext cx="2743200" cy="228600"/>
          </a:xfrm>
          <a:prstGeom prst="rect">
            <a:avLst/>
          </a:prstGeom>
          <a:noFill/>
          <a:ln/>
        </p:spPr>
        <p:txBody>
          <a:bodyPr wrap="square" lIns="0" tIns="0" rIns="0" bIns="0" rtlCol="0" anchor="t"/>
          <a:lstStyle/>
          <a:p>
            <a:pPr algn="l" indent="0" marL="0">
              <a:buNone/>
            </a:pPr>
            <a:r>
              <a:rPr lang="en-US" sz="1250" b="1" dirty="0">
                <a:solidFill>
                  <a:schemeClr val="accent1"/>
                </a:solidFill>
                <a:latin typeface="Calibri" pitchFamily="34" charset="0"/>
                <a:ea typeface="Calibri" pitchFamily="34" charset="-122"/>
                <a:cs typeface="Calibri" pitchFamily="34" charset="-120"/>
              </a:rPr>
              <a:t>Critic rules</a:t>
            </a:r>
            <a:endParaRPr lang="en-US" sz="1250" dirty="0"/>
          </a:p>
        </p:txBody>
      </p:sp>
      <p:sp>
        <p:nvSpPr>
          <p:cNvPr id="28" name="Shape 26"/>
          <p:cNvSpPr/>
          <p:nvPr/>
        </p:nvSpPr>
        <p:spPr>
          <a:xfrm>
            <a:off x="457200" y="4178808"/>
            <a:ext cx="1572768" cy="566928"/>
          </a:xfrm>
          <a:prstGeom prst="roundRect">
            <a:avLst>
              <a:gd name="adj" fmla="val 9677"/>
            </a:avLst>
          </a:prstGeom>
          <a:solidFill>
            <a:schemeClr val="bg2"/>
          </a:solidFill>
          <a:ln/>
        </p:spPr>
      </p:sp>
      <p:sp>
        <p:nvSpPr>
          <p:cNvPr id="29" name="Text 27"/>
          <p:cNvSpPr txBox="1"/>
          <p:nvPr/>
        </p:nvSpPr>
        <p:spPr>
          <a:xfrm>
            <a:off x="512064" y="4178808"/>
            <a:ext cx="1463040" cy="566928"/>
          </a:xfrm>
          <a:prstGeom prst="rect">
            <a:avLst/>
          </a:prstGeom>
          <a:noFill/>
          <a:ln/>
        </p:spPr>
        <p:txBody>
          <a:bodyPr wrap="square" lIns="0" tIns="0" rIns="0" bIns="0" rtlCol="0" anchor="ctr"/>
          <a:lstStyle/>
          <a:p>
            <a:pPr algn="l" indent="0" marL="0">
              <a:buNone/>
            </a:pPr>
            <a:r>
              <a:rPr lang="en-US" sz="1000" b="1" dirty="0">
                <a:solidFill>
                  <a:schemeClr val="accent1"/>
                </a:solidFill>
                <a:latin typeface="Calibri" pitchFamily="34" charset="0"/>
                <a:ea typeface="Calibri" pitchFamily="34" charset="-122"/>
                <a:cs typeface="Calibri" pitchFamily="34" charset="-120"/>
              </a:rPr>
              <a:t>R1  </a:t>
            </a:r>
            <a:pPr algn="l" indent="0" marL="0">
              <a:buNone/>
            </a:pPr>
            <a:r>
              <a:rPr lang="en-US" sz="1000" dirty="0">
                <a:solidFill>
                  <a:schemeClr val="tx1"/>
                </a:solidFill>
                <a:latin typeface="Calibri" pitchFamily="34" charset="0"/>
                <a:ea typeface="Calibri" pitchFamily="34" charset="-122"/>
                <a:cs typeface="Calibri" pitchFamily="34" charset="-120"/>
              </a:rPr>
              <a:t>No negative stock after the plan is applied</a:t>
            </a:r>
            <a:endParaRPr lang="en-US" sz="1000" dirty="0"/>
          </a:p>
        </p:txBody>
      </p:sp>
      <p:sp>
        <p:nvSpPr>
          <p:cNvPr id="30" name="Shape 28"/>
          <p:cNvSpPr/>
          <p:nvPr/>
        </p:nvSpPr>
        <p:spPr>
          <a:xfrm>
            <a:off x="2121408" y="4178808"/>
            <a:ext cx="1572768" cy="566928"/>
          </a:xfrm>
          <a:prstGeom prst="roundRect">
            <a:avLst>
              <a:gd name="adj" fmla="val 9677"/>
            </a:avLst>
          </a:prstGeom>
          <a:solidFill>
            <a:schemeClr val="bg2"/>
          </a:solidFill>
          <a:ln/>
        </p:spPr>
      </p:sp>
      <p:sp>
        <p:nvSpPr>
          <p:cNvPr id="31" name="Text 29"/>
          <p:cNvSpPr txBox="1"/>
          <p:nvPr/>
        </p:nvSpPr>
        <p:spPr>
          <a:xfrm>
            <a:off x="2176272" y="4178808"/>
            <a:ext cx="1463040" cy="566928"/>
          </a:xfrm>
          <a:prstGeom prst="rect">
            <a:avLst/>
          </a:prstGeom>
          <a:noFill/>
          <a:ln/>
        </p:spPr>
        <p:txBody>
          <a:bodyPr wrap="square" lIns="0" tIns="0" rIns="0" bIns="0" rtlCol="0" anchor="ctr"/>
          <a:lstStyle/>
          <a:p>
            <a:pPr algn="l" indent="0" marL="0">
              <a:buNone/>
            </a:pPr>
            <a:r>
              <a:rPr lang="en-US" sz="1000" b="1" dirty="0">
                <a:solidFill>
                  <a:schemeClr val="accent1"/>
                </a:solidFill>
                <a:latin typeface="Calibri" pitchFamily="34" charset="0"/>
                <a:ea typeface="Calibri" pitchFamily="34" charset="-122"/>
                <a:cs typeface="Calibri" pitchFamily="34" charset="-120"/>
              </a:rPr>
              <a:t>R2  </a:t>
            </a:r>
            <a:pPr algn="l" indent="0" marL="0">
              <a:buNone/>
            </a:pPr>
            <a:r>
              <a:rPr lang="en-US" sz="1000" dirty="0">
                <a:solidFill>
                  <a:schemeClr val="tx1"/>
                </a:solidFill>
                <a:latin typeface="Calibri" pitchFamily="34" charset="0"/>
                <a:ea typeface="Calibri" pitchFamily="34" charset="-122"/>
                <a:cs typeface="Calibri" pitchFamily="34" charset="-120"/>
              </a:rPr>
              <a:t>Supplier quantities stay within capacity</a:t>
            </a:r>
            <a:endParaRPr lang="en-US" sz="1000" dirty="0"/>
          </a:p>
        </p:txBody>
      </p:sp>
      <p:sp>
        <p:nvSpPr>
          <p:cNvPr id="32" name="Shape 30"/>
          <p:cNvSpPr/>
          <p:nvPr/>
        </p:nvSpPr>
        <p:spPr>
          <a:xfrm>
            <a:off x="3785616" y="4178808"/>
            <a:ext cx="1572768" cy="566928"/>
          </a:xfrm>
          <a:prstGeom prst="roundRect">
            <a:avLst>
              <a:gd name="adj" fmla="val 9677"/>
            </a:avLst>
          </a:prstGeom>
          <a:solidFill>
            <a:schemeClr val="bg2"/>
          </a:solidFill>
          <a:ln/>
        </p:spPr>
      </p:sp>
      <p:sp>
        <p:nvSpPr>
          <p:cNvPr id="33" name="Text 31"/>
          <p:cNvSpPr txBox="1"/>
          <p:nvPr/>
        </p:nvSpPr>
        <p:spPr>
          <a:xfrm>
            <a:off x="3840480" y="4178808"/>
            <a:ext cx="1463040" cy="566928"/>
          </a:xfrm>
          <a:prstGeom prst="rect">
            <a:avLst/>
          </a:prstGeom>
          <a:noFill/>
          <a:ln/>
        </p:spPr>
        <p:txBody>
          <a:bodyPr wrap="square" lIns="0" tIns="0" rIns="0" bIns="0" rtlCol="0" anchor="ctr"/>
          <a:lstStyle/>
          <a:p>
            <a:pPr algn="l" indent="0" marL="0">
              <a:buNone/>
            </a:pPr>
            <a:r>
              <a:rPr lang="en-US" sz="1000" b="1" dirty="0">
                <a:solidFill>
                  <a:schemeClr val="accent1"/>
                </a:solidFill>
                <a:latin typeface="Calibri" pitchFamily="34" charset="0"/>
                <a:ea typeface="Calibri" pitchFamily="34" charset="-122"/>
                <a:cs typeface="Calibri" pitchFamily="34" charset="-120"/>
              </a:rPr>
              <a:t>R3  </a:t>
            </a:r>
            <a:pPr algn="l" indent="0" marL="0">
              <a:buNone/>
            </a:pPr>
            <a:r>
              <a:rPr lang="en-US" sz="1000" dirty="0">
                <a:solidFill>
                  <a:schemeClr val="tx1"/>
                </a:solidFill>
                <a:latin typeface="Calibri" pitchFamily="34" charset="0"/>
                <a:ea typeface="Calibri" pitchFamily="34" charset="-122"/>
                <a:cs typeface="Calibri" pitchFamily="34" charset="-120"/>
              </a:rPr>
              <a:t>Every affected order is covered, or listed as late with its delay</a:t>
            </a:r>
            <a:endParaRPr lang="en-US" sz="1000" dirty="0"/>
          </a:p>
        </p:txBody>
      </p:sp>
      <p:sp>
        <p:nvSpPr>
          <p:cNvPr id="34" name="Shape 32"/>
          <p:cNvSpPr/>
          <p:nvPr/>
        </p:nvSpPr>
        <p:spPr>
          <a:xfrm>
            <a:off x="5449824" y="4178808"/>
            <a:ext cx="1572768" cy="566928"/>
          </a:xfrm>
          <a:prstGeom prst="roundRect">
            <a:avLst>
              <a:gd name="adj" fmla="val 9677"/>
            </a:avLst>
          </a:prstGeom>
          <a:solidFill>
            <a:schemeClr val="bg2"/>
          </a:solidFill>
          <a:ln/>
        </p:spPr>
      </p:sp>
      <p:sp>
        <p:nvSpPr>
          <p:cNvPr id="35" name="Text 33"/>
          <p:cNvSpPr txBox="1"/>
          <p:nvPr/>
        </p:nvSpPr>
        <p:spPr>
          <a:xfrm>
            <a:off x="5504688" y="4178808"/>
            <a:ext cx="1463040" cy="566928"/>
          </a:xfrm>
          <a:prstGeom prst="rect">
            <a:avLst/>
          </a:prstGeom>
          <a:noFill/>
          <a:ln/>
        </p:spPr>
        <p:txBody>
          <a:bodyPr wrap="square" lIns="0" tIns="0" rIns="0" bIns="0" rtlCol="0" anchor="ctr"/>
          <a:lstStyle/>
          <a:p>
            <a:pPr algn="l" indent="0" marL="0">
              <a:buNone/>
            </a:pPr>
            <a:r>
              <a:rPr lang="en-US" sz="1000" b="1" dirty="0">
                <a:solidFill>
                  <a:schemeClr val="accent1"/>
                </a:solidFill>
                <a:latin typeface="Calibri" pitchFamily="34" charset="0"/>
                <a:ea typeface="Calibri" pitchFamily="34" charset="-122"/>
                <a:cs typeface="Calibri" pitchFamily="34" charset="-120"/>
              </a:rPr>
              <a:t>R4  </a:t>
            </a:r>
            <a:pPr algn="l" indent="0" marL="0">
              <a:buNone/>
            </a:pPr>
            <a:r>
              <a:rPr lang="en-US" sz="1000" dirty="0">
                <a:solidFill>
                  <a:schemeClr val="tx1"/>
                </a:solidFill>
                <a:latin typeface="Calibri" pitchFamily="34" charset="0"/>
                <a:ea typeface="Calibri" pitchFamily="34" charset="-122"/>
                <a:cs typeface="Calibri" pitchFamily="34" charset="-120"/>
              </a:rPr>
              <a:t>Recomputed cost matches the reported cost (0.5% tolerance)</a:t>
            </a:r>
            <a:endParaRPr lang="en-US" sz="1000" dirty="0"/>
          </a:p>
        </p:txBody>
      </p:sp>
      <p:sp>
        <p:nvSpPr>
          <p:cNvPr id="36" name="Shape 34"/>
          <p:cNvSpPr/>
          <p:nvPr/>
        </p:nvSpPr>
        <p:spPr>
          <a:xfrm>
            <a:off x="7114032" y="4178808"/>
            <a:ext cx="1572768" cy="566928"/>
          </a:xfrm>
          <a:prstGeom prst="roundRect">
            <a:avLst>
              <a:gd name="adj" fmla="val 9677"/>
            </a:avLst>
          </a:prstGeom>
          <a:solidFill>
            <a:schemeClr val="bg2"/>
          </a:solidFill>
          <a:ln/>
        </p:spPr>
      </p:sp>
      <p:sp>
        <p:nvSpPr>
          <p:cNvPr id="37" name="Text 35"/>
          <p:cNvSpPr txBox="1"/>
          <p:nvPr/>
        </p:nvSpPr>
        <p:spPr>
          <a:xfrm>
            <a:off x="7168896" y="4178808"/>
            <a:ext cx="1463040" cy="566928"/>
          </a:xfrm>
          <a:prstGeom prst="rect">
            <a:avLst/>
          </a:prstGeom>
          <a:noFill/>
          <a:ln/>
        </p:spPr>
        <p:txBody>
          <a:bodyPr wrap="square" lIns="0" tIns="0" rIns="0" bIns="0" rtlCol="0" anchor="ctr"/>
          <a:lstStyle/>
          <a:p>
            <a:pPr algn="l" indent="0" marL="0">
              <a:buNone/>
            </a:pPr>
            <a:r>
              <a:rPr lang="en-US" sz="1000" b="1" dirty="0">
                <a:solidFill>
                  <a:schemeClr val="accent1"/>
                </a:solidFill>
                <a:latin typeface="Calibri" pitchFamily="34" charset="0"/>
                <a:ea typeface="Calibri" pitchFamily="34" charset="-122"/>
                <a:cs typeface="Calibri" pitchFamily="34" charset="-120"/>
              </a:rPr>
              <a:t>R5  </a:t>
            </a:r>
            <a:pPr algn="l" indent="0" marL="0">
              <a:buNone/>
            </a:pPr>
            <a:r>
              <a:rPr lang="en-US" sz="1000" dirty="0">
                <a:solidFill>
                  <a:schemeClr val="tx1"/>
                </a:solidFill>
                <a:latin typeface="Calibri" pitchFamily="34" charset="0"/>
                <a:ea typeface="Calibri" pitchFamily="34" charset="-122"/>
                <a:cs typeface="Calibri" pitchFamily="34" charset="-120"/>
              </a:rPr>
              <a:t>Every number in a message matches the plan</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548640"/>
          </a:xfrm>
          <a:prstGeom prst="rect">
            <a:avLst/>
          </a:prstGeom>
          <a:noFill/>
          <a:ln/>
        </p:spPr>
        <p:txBody>
          <a:bodyPr wrap="square" lIns="0" tIns="0" rIns="0" bIns="0" rtlCol="0" anchor="ctr"/>
          <a:lstStyle/>
          <a:p>
            <a:pPr algn="l" indent="0" marL="0">
              <a:buNone/>
            </a:pPr>
            <a:r>
              <a:rPr lang="en-US" sz="2600" b="1" dirty="0">
                <a:solidFill>
                  <a:schemeClr val="tx1"/>
                </a:solidFill>
                <a:latin typeface="Calibri" pitchFamily="34" charset="0"/>
                <a:ea typeface="Calibri" pitchFamily="34" charset="-122"/>
                <a:cs typeface="Calibri" pitchFamily="34" charset="-120"/>
              </a:rPr>
              <a:t>Demo: every order, day by day</a:t>
            </a:r>
            <a:endParaRPr lang="en-US" sz="2600" dirty="0"/>
          </a:p>
        </p:txBody>
      </p:sp>
      <p:pic>
        <p:nvPicPr>
          <p:cNvPr id="3" name="Picture 2" descr="Screenshot of the running app: every affected order on a day-by-day timeline, with the two late shipments shown as yellow striped bars"/>
          <p:cNvPicPr>
            <a:picLocks noChangeAspect="1"/>
          </p:cNvPicPr>
          <p:nvPr/>
        </p:nvPicPr>
        <p:blipFill>
          <a:blip r:embed="rId3"/>
          <a:stretch>
            <a:fillRect/>
          </a:stretch>
        </p:blipFill>
        <p:spPr>
          <a:xfrm>
            <a:off x="457200" y="896112"/>
            <a:ext cx="5212080" cy="3787219"/>
          </a:xfrm>
          <a:prstGeom prst="rect">
            <a:avLst/>
          </a:prstGeom>
          <a:ln w="9525">
            <a:solidFill>
              <a:schemeClr val="accent4"/>
            </a:solidFill>
          </a:ln>
        </p:spPr>
      </p:pic>
      <p:sp>
        <p:nvSpPr>
          <p:cNvPr id="4" name="What the screen shows"/>
          <p:cNvSpPr txBox="1"/>
          <p:nvPr/>
        </p:nvSpPr>
        <p:spPr>
          <a:xfrm>
            <a:off x="5989320" y="914400"/>
            <a:ext cx="2697480" cy="1920240"/>
          </a:xfrm>
          <a:prstGeom prst="rect">
            <a:avLst/>
          </a:prstGeom>
          <a:noFill/>
        </p:spPr>
        <p:txBody>
          <a:bodyPr wrap="square" lIns="0" rIns="0" tIns="0" bIns="0" anchor="t">
            <a:spAutoFit/>
          </a:bodyPr>
          <a:lstStyle/>
          <a:p>
            <a:pPr algn="l">
              <a:spcAft>
                <a:spcPts val="500"/>
              </a:spcAft>
            </a:pPr>
            <a:r>
              <a:rPr sz="1400" b="1" i="0">
                <a:solidFill>
                  <a:schemeClr val="accent1"/>
                </a:solidFill>
                <a:latin typeface="Calibri"/>
              </a:rPr>
              <a:t>What the screen shows</a:t>
            </a:r>
          </a:p>
          <a:p>
            <a:pPr algn="l">
              <a:spcAft>
                <a:spcPts val="600"/>
              </a:spcAft>
            </a:pPr>
            <a:r>
              <a:rPr sz="1200" b="0" i="0">
                <a:solidFill>
                  <a:schemeClr val="tx1"/>
                </a:solidFill>
                <a:latin typeface="Calibri"/>
              </a:rPr>
              <a:t>Each row is one customer order. The grey line runs from today to its due day, and the dot marks when it actually ships: green if on time, red if late.</a:t>
            </a:r>
          </a:p>
          <a:p>
            <a:pPr algn="l"/>
            <a:r>
              <a:rPr sz="1200" b="0" i="0">
                <a:solidFill>
                  <a:schemeClr val="tx1"/>
                </a:solidFill>
                <a:latin typeface="Calibri"/>
              </a:rPr>
              <a:t>The yellow bars are the late shipments, moved from their old arrival day to the new one.</a:t>
            </a:r>
          </a:p>
        </p:txBody>
      </p:sp>
      <p:sp>
        <p:nvSpPr>
          <p:cNvPr id="5" name="Behind it"/>
          <p:cNvSpPr txBox="1"/>
          <p:nvPr/>
        </p:nvSpPr>
        <p:spPr>
          <a:xfrm>
            <a:off x="5989320" y="2788920"/>
            <a:ext cx="2697480" cy="1828800"/>
          </a:xfrm>
          <a:prstGeom prst="rect">
            <a:avLst/>
          </a:prstGeom>
          <a:noFill/>
        </p:spPr>
        <p:txBody>
          <a:bodyPr wrap="square" lIns="0" rIns="0" tIns="0" bIns="0" anchor="t">
            <a:spAutoFit/>
          </a:bodyPr>
          <a:lstStyle/>
          <a:p>
            <a:pPr algn="l">
              <a:spcAft>
                <a:spcPts val="500"/>
              </a:spcAft>
            </a:pPr>
            <a:r>
              <a:rPr sz="1400" b="1" i="0">
                <a:solidFill>
                  <a:schemeClr val="accent1"/>
                </a:solidFill>
                <a:latin typeface="Calibri"/>
              </a:rPr>
              <a:t>Behind it</a:t>
            </a:r>
          </a:p>
          <a:p>
            <a:pPr algn="l">
              <a:spcAft>
                <a:spcPts val="600"/>
              </a:spcAft>
            </a:pPr>
            <a:r>
              <a:rPr sz="1200" b="0" i="0">
                <a:solidFill>
                  <a:schemeClr val="tx1"/>
                </a:solidFill>
                <a:latin typeface="Calibri"/>
              </a:rPr>
              <a:t>Four agents on LangGraph, a PuLP optimizer for the plan, and Streamlit for the screen. Alerts are read by rules and messages come from templates, so no number depends on a language model.</a:t>
            </a:r>
          </a:p>
          <a:p>
            <a:pPr algn="l"/>
            <a:r>
              <a:rPr sz="1100" b="0" i="1">
                <a:solidFill>
                  <a:schemeClr val="accent3"/>
                </a:solidFill>
                <a:latin typeface="Calibri"/>
              </a:rPr>
              <a:t>Shown: two delays at once, plan approved.</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548640"/>
          </a:xfrm>
          <a:prstGeom prst="rect">
            <a:avLst/>
          </a:prstGeom>
          <a:noFill/>
          <a:ln/>
        </p:spPr>
        <p:txBody>
          <a:bodyPr wrap="square" lIns="0" tIns="0" rIns="0" bIns="0" rtlCol="0" anchor="ctr"/>
          <a:lstStyle/>
          <a:p>
            <a:pPr algn="l" indent="0" marL="0">
              <a:buNone/>
            </a:pPr>
            <a:r>
              <a:rPr lang="en-US" sz="2600" b="1" dirty="0">
                <a:solidFill>
                  <a:schemeClr val="tx1"/>
                </a:solidFill>
                <a:latin typeface="Calibri" pitchFamily="34" charset="0"/>
                <a:ea typeface="Calibri" pitchFamily="34" charset="-122"/>
                <a:cs typeface="Calibri" pitchFamily="34" charset="-120"/>
              </a:rPr>
              <a:t>Limits and next steps</a:t>
            </a:r>
            <a:endParaRPr lang="en-US" sz="2600" dirty="0"/>
          </a:p>
        </p:txBody>
      </p:sp>
      <p:sp>
        <p:nvSpPr>
          <p:cNvPr id="4" name="Text 2"/>
          <p:cNvSpPr txBox="1"/>
          <p:nvPr/>
        </p:nvSpPr>
        <p:spPr>
          <a:xfrm>
            <a:off x="457200" y="914400"/>
            <a:ext cx="3931920" cy="320040"/>
          </a:xfrm>
          <a:prstGeom prst="rect">
            <a:avLst/>
          </a:prstGeom>
          <a:noFill/>
          <a:ln/>
        </p:spPr>
        <p:txBody>
          <a:bodyPr wrap="square" lIns="0" tIns="0" rIns="0" bIns="0" rtlCol="0" anchor="t"/>
          <a:lstStyle/>
          <a:p>
            <a:pPr algn="l" indent="0" marL="0">
              <a:buNone/>
            </a:pPr>
            <a:r>
              <a:rPr lang="en-US" sz="1600" b="1" dirty="0">
                <a:solidFill>
                  <a:schemeClr val="tx1"/>
                </a:solidFill>
                <a:latin typeface="Calibri" pitchFamily="34" charset="0"/>
                <a:ea typeface="Calibri" pitchFamily="34" charset="-122"/>
                <a:cs typeface="Calibri" pitchFamily="34" charset="-120"/>
              </a:rPr>
              <a:t>Known limits</a:t>
            </a:r>
            <a:endParaRPr lang="en-US" sz="1600" dirty="0"/>
          </a:p>
        </p:txBody>
      </p:sp>
      <p:sp>
        <p:nvSpPr>
          <p:cNvPr id="5" name="Text 3"/>
          <p:cNvSpPr txBox="1"/>
          <p:nvPr/>
        </p:nvSpPr>
        <p:spPr>
          <a:xfrm>
            <a:off x="457200" y="1280160"/>
            <a:ext cx="3931920" cy="502920"/>
          </a:xfrm>
          <a:prstGeom prst="rect">
            <a:avLst/>
          </a:prstGeom>
          <a:noFill/>
          <a:ln/>
        </p:spPr>
        <p:txBody>
          <a:bodyPr wrap="square" lIns="0" tIns="0" rIns="0" bIns="0" rtlCol="0" anchor="t"/>
          <a:lstStyle/>
          <a:p>
            <a:pPr algn="l" marL="177800" indent="-177800">
              <a:buSzPct val="100000"/>
              <a:buChar char="•"/>
            </a:pPr>
            <a:r>
              <a:rPr lang="en-US" sz="1250" dirty="0">
                <a:solidFill>
                  <a:schemeClr val="tx1"/>
                </a:solidFill>
                <a:latin typeface="Calibri" pitchFamily="34" charset="0"/>
                <a:ea typeface="Calibri" pitchFamily="34" charset="-122"/>
                <a:cs typeface="Calibri" pitchFamily="34" charset="-120"/>
              </a:rPr>
              <a:t>The supply chain is small and synthetic, so the results show the workflow, not real savings.</a:t>
            </a:r>
            <a:endParaRPr lang="en-US" sz="1250" dirty="0"/>
          </a:p>
        </p:txBody>
      </p:sp>
      <p:sp>
        <p:nvSpPr>
          <p:cNvPr id="6" name="Text 4"/>
          <p:cNvSpPr txBox="1"/>
          <p:nvPr/>
        </p:nvSpPr>
        <p:spPr>
          <a:xfrm>
            <a:off x="457200" y="1783080"/>
            <a:ext cx="3931920" cy="502920"/>
          </a:xfrm>
          <a:prstGeom prst="rect">
            <a:avLst/>
          </a:prstGeom>
          <a:noFill/>
          <a:ln/>
        </p:spPr>
        <p:txBody>
          <a:bodyPr wrap="square" lIns="0" tIns="0" rIns="0" bIns="0" rtlCol="0" anchor="t"/>
          <a:lstStyle/>
          <a:p>
            <a:pPr algn="l" marL="177800" indent="-177800">
              <a:buSzPct val="100000"/>
              <a:buChar char="•"/>
            </a:pPr>
            <a:r>
              <a:rPr lang="en-US" sz="1250" dirty="0">
                <a:solidFill>
                  <a:schemeClr val="tx1"/>
                </a:solidFill>
                <a:latin typeface="Calibri" pitchFamily="34" charset="0"/>
                <a:ea typeface="Calibri" pitchFamily="34" charset="-122"/>
                <a:cs typeface="Calibri" pitchFamily="34" charset="-120"/>
              </a:rPr>
              <a:t>Costs are modelled in a simple linear way, with no uncertainty in how long a delay will last.</a:t>
            </a:r>
            <a:endParaRPr lang="en-US" sz="1250" dirty="0"/>
          </a:p>
        </p:txBody>
      </p:sp>
      <p:sp>
        <p:nvSpPr>
          <p:cNvPr id="7" name="Text 5"/>
          <p:cNvSpPr txBox="1"/>
          <p:nvPr/>
        </p:nvSpPr>
        <p:spPr>
          <a:xfrm>
            <a:off x="457200" y="2286000"/>
            <a:ext cx="3931920" cy="502920"/>
          </a:xfrm>
          <a:prstGeom prst="rect">
            <a:avLst/>
          </a:prstGeom>
          <a:noFill/>
          <a:ln/>
        </p:spPr>
        <p:txBody>
          <a:bodyPr wrap="square" lIns="0" tIns="0" rIns="0" bIns="0" rtlCol="0" anchor="t"/>
          <a:lstStyle/>
          <a:p>
            <a:pPr algn="l" marL="177800" indent="-177800">
              <a:buSzPct val="100000"/>
              <a:buChar char="•"/>
            </a:pPr>
            <a:r>
              <a:rPr lang="en-US" sz="1250" dirty="0">
                <a:solidFill>
                  <a:schemeClr val="tx1"/>
                </a:solidFill>
                <a:latin typeface="Calibri" pitchFamily="34" charset="0"/>
                <a:ea typeface="Calibri" pitchFamily="34" charset="-122"/>
                <a:cs typeface="Calibri" pitchFamily="34" charset="-120"/>
              </a:rPr>
              <a:t>The Critic’s rules were written alongside the test cases, so real-world performance would look worse.</a:t>
            </a:r>
            <a:endParaRPr lang="en-US" sz="1250" dirty="0"/>
          </a:p>
        </p:txBody>
      </p:sp>
      <p:sp>
        <p:nvSpPr>
          <p:cNvPr id="7" name="Text 5"/>
          <p:cNvSpPr txBox="1"/>
          <p:nvPr/>
        </p:nvSpPr>
        <p:spPr>
          <a:xfrm>
            <a:off x="457200" y="2788920"/>
            <a:ext cx="3931920" cy="502920"/>
          </a:xfrm>
          <a:prstGeom prst="rect">
            <a:avLst/>
          </a:prstGeom>
          <a:noFill/>
          <a:ln/>
        </p:spPr>
        <p:txBody>
          <a:bodyPr wrap="square" lIns="0" tIns="0" rIns="0" bIns="0" rtlCol="0" anchor="t"/>
          <a:lstStyle/>
          <a:p>
            <a:pPr algn="l" marL="177800" indent="-177800">
              <a:buSzPct val="100000"/>
              <a:buChar char="•"/>
            </a:pPr>
            <a:r>
              <a:rPr lang="en-US" sz="1250" dirty="0">
                <a:solidFill>
                  <a:schemeClr val="tx1"/>
                </a:solidFill>
                <a:latin typeface="Calibri" pitchFamily="34" charset="0"/>
                <a:ea typeface="Calibri" pitchFamily="34" charset="-122"/>
                <a:cs typeface="Calibri" pitchFamily="34" charset="-120"/>
              </a:rPr>
              <a:t>Alerts are read with simple rules and messages are templates, so this version has no language model in it.</a:t>
            </a:r>
            <a:endParaRPr lang="en-US" sz="1250" dirty="0"/>
          </a:p>
        </p:txBody>
      </p:sp>
      <p:sp>
        <p:nvSpPr>
          <p:cNvPr id="9" name="Text 7"/>
          <p:cNvSpPr txBox="1"/>
          <p:nvPr/>
        </p:nvSpPr>
        <p:spPr>
          <a:xfrm>
            <a:off x="4754880" y="914400"/>
            <a:ext cx="3931920" cy="320040"/>
          </a:xfrm>
          <a:prstGeom prst="rect">
            <a:avLst/>
          </a:prstGeom>
          <a:noFill/>
          <a:ln/>
        </p:spPr>
        <p:txBody>
          <a:bodyPr wrap="square" lIns="0" tIns="0" rIns="0" bIns="0" rtlCol="0" anchor="t"/>
          <a:lstStyle/>
          <a:p>
            <a:pPr algn="l" indent="0" marL="0">
              <a:buNone/>
            </a:pPr>
            <a:r>
              <a:rPr lang="en-US" sz="1600" b="1" dirty="0">
                <a:solidFill>
                  <a:schemeClr val="accent1"/>
                </a:solidFill>
                <a:latin typeface="Calibri" pitchFamily="34" charset="0"/>
                <a:ea typeface="Calibri" pitchFamily="34" charset="-122"/>
                <a:cs typeface="Calibri" pitchFamily="34" charset="-120"/>
              </a:rPr>
              <a:t>Next steps</a:t>
            </a:r>
            <a:endParaRPr lang="en-US" sz="1600" dirty="0"/>
          </a:p>
        </p:txBody>
      </p:sp>
      <p:sp>
        <p:nvSpPr>
          <p:cNvPr id="10" name="Text 8"/>
          <p:cNvSpPr txBox="1"/>
          <p:nvPr/>
        </p:nvSpPr>
        <p:spPr>
          <a:xfrm>
            <a:off x="4754880" y="1280160"/>
            <a:ext cx="3931920" cy="502920"/>
          </a:xfrm>
          <a:prstGeom prst="rect">
            <a:avLst/>
          </a:prstGeom>
          <a:noFill/>
          <a:ln/>
        </p:spPr>
        <p:txBody>
          <a:bodyPr wrap="square" lIns="0" tIns="0" rIns="0" bIns="0" rtlCol="0" anchor="t"/>
          <a:lstStyle/>
          <a:p>
            <a:pPr algn="l" marL="177800" indent="-177800">
              <a:buSzPct val="100000"/>
              <a:buChar char="•"/>
            </a:pPr>
            <a:r>
              <a:rPr lang="en-US" sz="1250" dirty="0">
                <a:solidFill>
                  <a:schemeClr val="tx1"/>
                </a:solidFill>
                <a:latin typeface="Calibri" pitchFamily="34" charset="0"/>
                <a:ea typeface="Calibri" pitchFamily="34" charset="-122"/>
                <a:cs typeface="Calibri" pitchFamily="34" charset="-120"/>
              </a:rPr>
              <a:t>Later versions could add more constraints, such as production capacity and multi-tier suppliers.</a:t>
            </a:r>
            <a:endParaRPr lang="en-US" sz="1250" dirty="0"/>
          </a:p>
        </p:txBody>
      </p:sp>
      <p:sp>
        <p:nvSpPr>
          <p:cNvPr id="11" name="Text 9"/>
          <p:cNvSpPr txBox="1"/>
          <p:nvPr/>
        </p:nvSpPr>
        <p:spPr>
          <a:xfrm>
            <a:off x="4754880" y="1783080"/>
            <a:ext cx="3931920" cy="502920"/>
          </a:xfrm>
          <a:prstGeom prst="rect">
            <a:avLst/>
          </a:prstGeom>
          <a:noFill/>
          <a:ln/>
        </p:spPr>
        <p:txBody>
          <a:bodyPr wrap="square" lIns="0" tIns="0" rIns="0" bIns="0" rtlCol="0" anchor="t"/>
          <a:lstStyle/>
          <a:p>
            <a:pPr algn="l" marL="177800" indent="-177800">
              <a:buSzPct val="100000"/>
              <a:buChar char="•"/>
            </a:pPr>
            <a:r>
              <a:rPr lang="en-US" sz="1250" dirty="0">
                <a:solidFill>
                  <a:schemeClr val="tx1"/>
                </a:solidFill>
                <a:latin typeface="Calibri" pitchFamily="34" charset="0"/>
                <a:ea typeface="Calibri" pitchFamily="34" charset="-122"/>
                <a:cs typeface="Calibri" pitchFamily="34" charset="-120"/>
              </a:rPr>
              <a:t>Real ERP data could be connected through connectors.</a:t>
            </a:r>
            <a:endParaRPr lang="en-US" sz="1250" dirty="0"/>
          </a:p>
        </p:txBody>
      </p:sp>
      <p:sp>
        <p:nvSpPr>
          <p:cNvPr id="12" name="Text 10"/>
          <p:cNvSpPr txBox="1"/>
          <p:nvPr/>
        </p:nvSpPr>
        <p:spPr>
          <a:xfrm>
            <a:off x="4754880" y="2286000"/>
            <a:ext cx="3931920" cy="502920"/>
          </a:xfrm>
          <a:prstGeom prst="rect">
            <a:avLst/>
          </a:prstGeom>
          <a:noFill/>
          <a:ln/>
        </p:spPr>
        <p:txBody>
          <a:bodyPr wrap="square" lIns="0" tIns="0" rIns="0" bIns="0" rtlCol="0" anchor="t"/>
          <a:lstStyle/>
          <a:p>
            <a:pPr algn="l" marL="177800" indent="-177800">
              <a:buSzPct val="100000"/>
              <a:buChar char="•"/>
            </a:pPr>
            <a:r>
              <a:rPr lang="en-US" sz="1250" dirty="0">
                <a:solidFill>
                  <a:schemeClr val="tx1"/>
                </a:solidFill>
                <a:latin typeface="Calibri" pitchFamily="34" charset="0"/>
                <a:ea typeface="Calibri" pitchFamily="34" charset="-122"/>
                <a:cs typeface="Calibri" pitchFamily="34" charset="-120"/>
              </a:rPr>
              <a:t>A step could be added so that supplier replies feed back into the plan.</a:t>
            </a:r>
            <a:endParaRPr lang="en-US" sz="1250" dirty="0"/>
          </a:p>
        </p:txBody>
      </p:sp>
      <p:sp>
        <p:nvSpPr>
          <p:cNvPr id="12" name="Text 10"/>
          <p:cNvSpPr txBox="1"/>
          <p:nvPr/>
        </p:nvSpPr>
        <p:spPr>
          <a:xfrm>
            <a:off x="4754880" y="2788920"/>
            <a:ext cx="3931920" cy="502920"/>
          </a:xfrm>
          <a:prstGeom prst="rect">
            <a:avLst/>
          </a:prstGeom>
          <a:noFill/>
          <a:ln/>
        </p:spPr>
        <p:txBody>
          <a:bodyPr wrap="square" lIns="0" tIns="0" rIns="0" bIns="0" rtlCol="0" anchor="t"/>
          <a:lstStyle/>
          <a:p>
            <a:pPr algn="l" marL="177800" indent="-177800">
              <a:buSzPct val="100000"/>
              <a:buChar char="•"/>
            </a:pPr>
            <a:r>
              <a:rPr lang="en-US" sz="1250" dirty="0">
                <a:solidFill>
                  <a:schemeClr val="tx1"/>
                </a:solidFill>
                <a:latin typeface="Calibri" pitchFamily="34" charset="0"/>
                <a:ea typeface="Calibri" pitchFamily="34" charset="-122"/>
                <a:cs typeface="Calibri" pitchFamily="34" charset="-120"/>
              </a:rPr>
              <a:t>A language model could read free-text alerts and draft the messages, with the Critic still checking every number.</a:t>
            </a:r>
            <a:endParaRPr lang="en-US" sz="1250" dirty="0"/>
          </a:p>
        </p:txBody>
      </p:sp>
      <p:sp>
        <p:nvSpPr>
          <p:cNvPr id="14" name="Text 12"/>
          <p:cNvSpPr txBox="1"/>
          <p:nvPr/>
        </p:nvSpPr>
        <p:spPr>
          <a:xfrm>
            <a:off x="457200" y="3346704"/>
            <a:ext cx="8229600" cy="274320"/>
          </a:xfrm>
          <a:prstGeom prst="rect">
            <a:avLst/>
          </a:prstGeom>
          <a:noFill/>
          <a:ln/>
        </p:spPr>
        <p:txBody>
          <a:bodyPr wrap="square" lIns="0" tIns="0" rIns="0" bIns="0" rtlCol="0" anchor="t"/>
          <a:lstStyle/>
          <a:p>
            <a:pPr algn="l" indent="0" marL="0">
              <a:buNone/>
            </a:pPr>
            <a:r>
              <a:rPr lang="en-US" sz="1250" b="1" dirty="0">
                <a:solidFill>
                  <a:schemeClr val="tx1"/>
                </a:solidFill>
                <a:latin typeface="Calibri" pitchFamily="34" charset="0"/>
                <a:ea typeface="Calibri" pitchFamily="34" charset="-122"/>
                <a:cs typeface="Calibri" pitchFamily="34" charset="-120"/>
              </a:rPr>
              <a:t>No real-world savings are claimed. All numbers come from runs on synthetic data.</a:t>
            </a:r>
            <a:endParaRPr lang="en-US" sz="1250" dirty="0"/>
          </a:p>
        </p:txBody>
      </p:sp>
      <p:cxnSp>
        <p:nvCxnSpPr>
          <p:cNvPr id="15" name="Connector 14"/>
          <p:cNvCxnSpPr/>
          <p:nvPr/>
        </p:nvCxnSpPr>
        <p:spPr>
          <a:xfrm>
            <a:off x="457200" y="3730752"/>
            <a:ext cx="8229600" cy="0"/>
          </a:xfrm>
          <a:prstGeom prst="line">
            <a:avLst/>
          </a:prstGeom>
          <a:ln w="6350">
            <a:solidFill>
              <a:schemeClr val="accent3"/>
            </a:solidFill>
          </a:ln>
        </p:spPr>
        <p:style>
          <a:lnRef idx="2">
            <a:schemeClr val="accent1"/>
          </a:lnRef>
          <a:fillRef idx="0">
            <a:schemeClr val="accent1"/>
          </a:fillRef>
          <a:effectRef idx="1">
            <a:schemeClr val="accent1"/>
          </a:effectRef>
          <a:fontRef idx="minor">
            <a:schemeClr val="tx1"/>
          </a:fontRef>
        </p:style>
      </p:cxnSp>
      <p:sp>
        <p:nvSpPr>
          <p:cNvPr id="16" name="Dataset reference"/>
          <p:cNvSpPr txBox="1"/>
          <p:nvPr/>
        </p:nvSpPr>
        <p:spPr>
          <a:xfrm>
            <a:off x="457200" y="3822191"/>
            <a:ext cx="8229600" cy="603504"/>
          </a:xfrm>
          <a:prstGeom prst="rect">
            <a:avLst/>
          </a:prstGeom>
          <a:noFill/>
        </p:spPr>
        <p:txBody>
          <a:bodyPr wrap="square" lIns="0" rIns="0" tIns="0" bIns="0" anchor="t">
            <a:spAutoFit/>
          </a:bodyPr>
          <a:lstStyle/>
          <a:p>
            <a:pPr algn="l"/>
            <a:r>
              <a:rPr sz="1200" b="1" i="0">
                <a:solidFill>
                  <a:schemeClr val="accent1"/>
                </a:solidFill>
                <a:latin typeface="Calibri"/>
              </a:rPr>
              <a:t>Dataset  </a:t>
            </a:r>
            <a:r>
              <a:rPr sz="1200" b="0" i="0">
                <a:solidFill>
                  <a:schemeClr val="tx1"/>
                </a:solidFill>
                <a:latin typeface="Calibri"/>
              </a:rPr>
              <a:t>Synthetic, made up by us: 4 suppliers, 8 parts, 3 products and 25 orders. No real company data and no public dataset. Rebuilt with a fixed random seed (42) by data/generate_data.py into four CSV files in the </a:t>
            </a:r>
            <a:r>
              <a:rPr sz="1200" b="0" i="0" u="sng">
                <a:solidFill>
                  <a:schemeClr val="accent1"/>
                </a:solidFill>
                <a:latin typeface="Calibri"/>
                <a:hlinkClick r:id="rId3"/>
              </a:rPr>
              <a:t>data folder</a:t>
            </a:r>
            <a:r>
              <a:rPr sz="1200" b="0" i="0">
                <a:solidFill>
                  <a:schemeClr val="tx1"/>
                </a:solidFill>
                <a:latin typeface="Calibri"/>
              </a:rPr>
              <a:t>. The 20 test alerts are in scenarios/scenarios.json.</a:t>
            </a:r>
          </a:p>
        </p:txBody>
      </p:sp>
      <p:sp>
        <p:nvSpPr>
          <p:cNvPr id="17" name="GitHub link"/>
          <p:cNvSpPr txBox="1"/>
          <p:nvPr/>
        </p:nvSpPr>
        <p:spPr>
          <a:xfrm>
            <a:off x="457200" y="4480560"/>
            <a:ext cx="8229600" cy="228600"/>
          </a:xfrm>
          <a:prstGeom prst="rect">
            <a:avLst/>
          </a:prstGeom>
          <a:noFill/>
        </p:spPr>
        <p:txBody>
          <a:bodyPr wrap="square" lIns="0" rIns="0" tIns="0" bIns="0" anchor="t">
            <a:spAutoFit/>
          </a:bodyPr>
          <a:lstStyle/>
          <a:p>
            <a:pPr algn="l"/>
            <a:r>
              <a:rPr sz="1200" b="1" i="0">
                <a:solidFill>
                  <a:schemeClr val="accent1"/>
                </a:solidFill>
                <a:latin typeface="Calibri"/>
              </a:rPr>
              <a:t>GitHub  </a:t>
            </a:r>
            <a:r>
              <a:rPr sz="1200" b="1" i="0" u="sng">
                <a:solidFill>
                  <a:schemeClr val="accent1"/>
                </a:solidFill>
                <a:latin typeface="Calibri"/>
                <a:hlinkClick r:id="rId4"/>
              </a:rPr>
              <a:t>https://github.com/amaansaxena/multi-agent-disruption-replanner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0"/>
          </p:nvPr>
        </p:nvSpPr>
        <p:spPr>
          <a:xfrm>
            <a:off x="457200" y="256032"/>
            <a:ext cx="8229600" cy="548640"/>
          </a:xfrm>
        </p:spPr>
        <p:txBody>
          <a:bodyPr wrap="square" lIns="0" tIns="0" rIns="0" bIns="0" rtlCol="0" anchor="ctr"/>
          <a:lstStyle/>
          <a:p>
            <a:r>
              <a:t>Demo: report a delay and decide</a:t>
            </a:r>
          </a:p>
        </p:txBody>
      </p:sp>
      <p:pic>
        <p:nvPicPr>
          <p:cNvPr id="3" name="Picture 2" descr="Screenshot of the app: the Report a delay form with supplier, part and days late, and below it the recovery plan waiting for approval"/>
          <p:cNvPicPr>
            <a:picLocks noChangeAspect="1"/>
          </p:cNvPicPr>
          <p:nvPr/>
        </p:nvPicPr>
        <p:blipFill>
          <a:blip r:embed="rId2"/>
          <a:stretch>
            <a:fillRect/>
          </a:stretch>
        </p:blipFill>
        <p:spPr>
          <a:xfrm>
            <a:off x="457200" y="914400"/>
            <a:ext cx="5394960" cy="4037392"/>
          </a:xfrm>
          <a:prstGeom prst="rect">
            <a:avLst/>
          </a:prstGeom>
          <a:ln w="9525">
            <a:solidFill>
              <a:schemeClr val="accent4"/>
            </a:solidFill>
          </a:ln>
        </p:spPr>
      </p:pic>
      <p:sp>
        <p:nvSpPr>
          <p:cNvPr id="4" name="Demo A text"/>
          <p:cNvSpPr txBox="1"/>
          <p:nvPr/>
        </p:nvSpPr>
        <p:spPr>
          <a:xfrm>
            <a:off x="6172200" y="914400"/>
            <a:ext cx="2514600" cy="3657600"/>
          </a:xfrm>
          <a:prstGeom prst="rect">
            <a:avLst/>
          </a:prstGeom>
          <a:noFill/>
        </p:spPr>
        <p:txBody>
          <a:bodyPr wrap="square" lIns="0" rIns="0" tIns="0" bIns="0" anchor="t">
            <a:spAutoFit/>
          </a:bodyPr>
          <a:lstStyle/>
          <a:p>
            <a:pPr algn="l">
              <a:spcAft>
                <a:spcPts val="300"/>
              </a:spcAft>
            </a:pPr>
            <a:r>
              <a:rPr sz="1400" b="1" i="0">
                <a:solidFill>
                  <a:schemeClr val="accent1"/>
                </a:solidFill>
                <a:latin typeface="Calibri"/>
              </a:rPr>
              <a:t>You report the delay</a:t>
            </a:r>
          </a:p>
          <a:p>
            <a:pPr algn="l">
              <a:spcAft>
                <a:spcPts val="1000"/>
              </a:spcAft>
            </a:pPr>
            <a:r>
              <a:rPr sz="1200" b="0" i="0">
                <a:solidFill>
                  <a:schemeClr val="tx1"/>
                </a:solidFill>
                <a:latin typeface="Calibri"/>
              </a:rPr>
              <a:t>Pick the late supplier, the part and how many days late it is. Or press a ready-made example.</a:t>
            </a:r>
          </a:p>
          <a:p>
            <a:pPr algn="l">
              <a:spcAft>
                <a:spcPts val="300"/>
              </a:spcAft>
            </a:pPr>
            <a:r>
              <a:rPr sz="1400" b="1" i="0">
                <a:solidFill>
                  <a:schemeClr val="accent1"/>
                </a:solidFill>
                <a:latin typeface="Calibri"/>
              </a:rPr>
              <a:t>The agents work</a:t>
            </a:r>
          </a:p>
          <a:p>
            <a:pPr algn="l">
              <a:spcAft>
                <a:spcPts val="1000"/>
              </a:spcAft>
            </a:pPr>
            <a:r>
              <a:rPr sz="1200" b="0" i="0">
                <a:solidFill>
                  <a:schemeClr val="tx1"/>
                </a:solidFill>
                <a:latin typeface="Calibri"/>
              </a:rPr>
              <a:t>Here 5 orders would ship late, with 18,350 in penalties if nobody acts. The plan costs 9,363, which is 15% less than the manual fix.</a:t>
            </a:r>
          </a:p>
          <a:p>
            <a:pPr algn="l">
              <a:spcAft>
                <a:spcPts val="300"/>
              </a:spcAft>
            </a:pPr>
            <a:r>
              <a:rPr sz="1400" b="1" i="0">
                <a:solidFill>
                  <a:schemeClr val="accent1"/>
                </a:solidFill>
                <a:latin typeface="Calibri"/>
              </a:rPr>
              <a:t>You decide</a:t>
            </a:r>
          </a:p>
          <a:p>
            <a:pPr algn="l">
              <a:spcAft>
                <a:spcPts val="1000"/>
              </a:spcAft>
            </a:pPr>
            <a:r>
              <a:rPr sz="1200" b="0" i="0">
                <a:solidFill>
                  <a:schemeClr val="tx1"/>
                </a:solidFill>
                <a:latin typeface="Calibri"/>
              </a:rPr>
              <a:t>Nothing is sent until you press Approve. Reject offers the manual fix instead.</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0"/>
          </p:nvPr>
        </p:nvSpPr>
        <p:spPr>
          <a:xfrm>
            <a:off x="457200" y="256032"/>
            <a:ext cx="8229600" cy="548640"/>
          </a:xfrm>
        </p:spPr>
        <p:txBody>
          <a:bodyPr wrap="square" lIns="0" tIns="0" rIns="0" bIns="0" rtlCol="0" anchor="ctr"/>
          <a:lstStyle/>
          <a:p>
            <a:r>
              <a:t>Demo: what to do and what to send</a:t>
            </a:r>
          </a:p>
        </p:txBody>
      </p:sp>
      <p:pic>
        <p:nvPicPr>
          <p:cNvPr id="3" name="Picture 2" descr="Screenshot of the What to do tab: use 177 units from stock, buy 189 units from Cobalt Fasteners and 171 from Delta Plastics, with the cost of each"/>
          <p:cNvPicPr>
            <a:picLocks noChangeAspect="1"/>
          </p:cNvPicPr>
          <p:nvPr/>
        </p:nvPicPr>
        <p:blipFill>
          <a:blip r:embed="rId2"/>
          <a:stretch>
            <a:fillRect/>
          </a:stretch>
        </p:blipFill>
        <p:spPr>
          <a:xfrm>
            <a:off x="457200" y="914400"/>
            <a:ext cx="5760720" cy="1642329"/>
          </a:xfrm>
          <a:prstGeom prst="rect">
            <a:avLst/>
          </a:prstGeom>
          <a:ln w="9525">
            <a:solidFill>
              <a:schemeClr val="accent4"/>
            </a:solidFill>
          </a:ln>
        </p:spPr>
      </p:pic>
      <p:pic>
        <p:nvPicPr>
          <p:cNvPr id="4" name="Picture 3" descr="Screenshot of the What to send tab: a message to Cobalt Fasteners and a message to Delta Plastics with quantities, arrival days and unit prices"/>
          <p:cNvPicPr>
            <a:picLocks noChangeAspect="1"/>
          </p:cNvPicPr>
          <p:nvPr/>
        </p:nvPicPr>
        <p:blipFill>
          <a:blip r:embed="rId3"/>
          <a:stretch>
            <a:fillRect/>
          </a:stretch>
        </p:blipFill>
        <p:spPr>
          <a:xfrm>
            <a:off x="457200" y="2831048"/>
            <a:ext cx="5760720" cy="1593212"/>
          </a:xfrm>
          <a:prstGeom prst="rect">
            <a:avLst/>
          </a:prstGeom>
          <a:ln w="9525">
            <a:solidFill>
              <a:schemeClr val="accent4"/>
            </a:solidFill>
          </a:ln>
        </p:spPr>
      </p:pic>
      <p:sp>
        <p:nvSpPr>
          <p:cNvPr id="5" name="Demo B text"/>
          <p:cNvSpPr txBox="1"/>
          <p:nvPr/>
        </p:nvSpPr>
        <p:spPr>
          <a:xfrm>
            <a:off x="6537959" y="914400"/>
            <a:ext cx="2148840" cy="3657600"/>
          </a:xfrm>
          <a:prstGeom prst="rect">
            <a:avLst/>
          </a:prstGeom>
          <a:noFill/>
        </p:spPr>
        <p:txBody>
          <a:bodyPr wrap="square" lIns="0" rIns="0" tIns="0" bIns="0" anchor="t">
            <a:spAutoFit/>
          </a:bodyPr>
          <a:lstStyle/>
          <a:p>
            <a:pPr algn="l">
              <a:spcAft>
                <a:spcPts val="300"/>
              </a:spcAft>
            </a:pPr>
            <a:r>
              <a:rPr sz="1400" b="1" i="0">
                <a:solidFill>
                  <a:schemeClr val="accent1"/>
                </a:solidFill>
                <a:latin typeface="Calibri"/>
              </a:rPr>
              <a:t>What to do</a:t>
            </a:r>
          </a:p>
          <a:p>
            <a:pPr algn="l">
              <a:spcAft>
                <a:spcPts val="1000"/>
              </a:spcAft>
            </a:pPr>
            <a:r>
              <a:rPr sz="1200" b="0" i="0">
                <a:solidFill>
                  <a:schemeClr val="tx1"/>
                </a:solidFill>
                <a:latin typeface="Calibri"/>
              </a:rPr>
              <a:t>The plan as plain actions: use stock, buy from a backup supplier, rush the late one, or wait. Each line shows its cost.</a:t>
            </a:r>
          </a:p>
          <a:p>
            <a:pPr algn="l">
              <a:spcAft>
                <a:spcPts val="300"/>
              </a:spcAft>
            </a:pPr>
            <a:r>
              <a:rPr sz="1400" b="1" i="0">
                <a:solidFill>
                  <a:schemeClr val="accent1"/>
                </a:solidFill>
                <a:latin typeface="Calibri"/>
              </a:rPr>
              <a:t>What to send</a:t>
            </a:r>
          </a:p>
          <a:p>
            <a:pPr algn="l">
              <a:spcAft>
                <a:spcPts val="1000"/>
              </a:spcAft>
            </a:pPr>
            <a:r>
              <a:rPr sz="1200" b="0" i="0">
                <a:solidFill>
                  <a:schemeClr val="tx1"/>
                </a:solidFill>
                <a:latin typeface="Calibri"/>
              </a:rPr>
              <a:t>A message for each supplier involved, and for each customer whose order will still be late. The Critic checks every number against the plan.</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0"/>
          </p:nvPr>
        </p:nvSpPr>
        <p:spPr>
          <a:xfrm>
            <a:off x="457200" y="256032"/>
            <a:ext cx="8229600" cy="548640"/>
          </a:xfrm>
        </p:spPr>
        <p:txBody>
          <a:bodyPr wrap="square" lIns="0" tIns="0" rIns="0" bIns="0" rtlCol="0" anchor="ctr"/>
          <a:lstStyle/>
          <a:p>
            <a:r>
              <a:t>Demo: the Critic catches a mistake</a:t>
            </a:r>
          </a:p>
        </p:txBody>
      </p:sp>
      <p:pic>
        <p:nvPicPr>
          <p:cNvPr id="3" name="Picture 2" descr="Screenshot of the How the agents worked tab: the Critic fails the plan three times because a message quotes 363 units when the plan says 362, and the Planner hands the case to a person"/>
          <p:cNvPicPr>
            <a:picLocks noChangeAspect="1"/>
          </p:cNvPicPr>
          <p:nvPr/>
        </p:nvPicPr>
        <p:blipFill>
          <a:blip r:embed="rId2"/>
          <a:stretch>
            <a:fillRect/>
          </a:stretch>
        </p:blipFill>
        <p:spPr>
          <a:xfrm>
            <a:off x="457200" y="914400"/>
            <a:ext cx="4006345" cy="3703320"/>
          </a:xfrm>
          <a:prstGeom prst="rect">
            <a:avLst/>
          </a:prstGeom>
          <a:ln w="9525">
            <a:solidFill>
              <a:schemeClr val="accent4"/>
            </a:solidFill>
          </a:ln>
        </p:spPr>
      </p:pic>
      <p:pic>
        <p:nvPicPr>
          <p:cNvPr id="4" name="Picture 3" descr="Screenshot of the headline: the case was handed to a person"/>
          <p:cNvPicPr>
            <a:picLocks noChangeAspect="1"/>
          </p:cNvPicPr>
          <p:nvPr/>
        </p:nvPicPr>
        <p:blipFill>
          <a:blip r:embed="rId3"/>
          <a:stretch>
            <a:fillRect/>
          </a:stretch>
        </p:blipFill>
        <p:spPr>
          <a:xfrm>
            <a:off x="4737865" y="914400"/>
            <a:ext cx="3948934" cy="1361305"/>
          </a:xfrm>
          <a:prstGeom prst="rect">
            <a:avLst/>
          </a:prstGeom>
          <a:ln w="9525">
            <a:solidFill>
              <a:schemeClr val="accent4"/>
            </a:solidFill>
          </a:ln>
        </p:spPr>
      </p:pic>
      <p:sp>
        <p:nvSpPr>
          <p:cNvPr id="5" name="Demo C text"/>
          <p:cNvSpPr txBox="1"/>
          <p:nvPr/>
        </p:nvSpPr>
        <p:spPr>
          <a:xfrm>
            <a:off x="4737865" y="2458585"/>
            <a:ext cx="3948934" cy="2204854"/>
          </a:xfrm>
          <a:prstGeom prst="rect">
            <a:avLst/>
          </a:prstGeom>
          <a:noFill/>
        </p:spPr>
        <p:txBody>
          <a:bodyPr wrap="square" lIns="0" rIns="0" tIns="0" bIns="0" anchor="t">
            <a:spAutoFit/>
          </a:bodyPr>
          <a:lstStyle/>
          <a:p>
            <a:pPr algn="l">
              <a:spcAft>
                <a:spcPts val="300"/>
              </a:spcAft>
            </a:pPr>
            <a:r>
              <a:rPr sz="1400" b="1" i="0">
                <a:solidFill>
                  <a:schemeClr val="accent1"/>
                </a:solidFill>
                <a:latin typeface="Calibri"/>
              </a:rPr>
              <a:t>A mistake we planted on purpose</a:t>
            </a:r>
          </a:p>
          <a:p>
            <a:pPr algn="l">
              <a:spcAft>
                <a:spcPts val="1000"/>
              </a:spcAft>
            </a:pPr>
            <a:r>
              <a:rPr sz="1200" b="0" i="0">
                <a:solidFill>
                  <a:schemeClr val="tx1"/>
                </a:solidFill>
                <a:latin typeface="Calibri"/>
              </a:rPr>
              <a:t>Supplier messages always quote one unit too many.</a:t>
            </a:r>
          </a:p>
          <a:p>
            <a:pPr algn="l">
              <a:spcAft>
                <a:spcPts val="300"/>
              </a:spcAft>
            </a:pPr>
            <a:r>
              <a:rPr sz="1400" b="1" i="0">
                <a:solidFill>
                  <a:schemeClr val="accent1"/>
                </a:solidFill>
                <a:latin typeface="Calibri"/>
              </a:rPr>
              <a:t>What the Critic does</a:t>
            </a:r>
          </a:p>
          <a:p>
            <a:pPr algn="l">
              <a:spcAft>
                <a:spcPts val="1000"/>
              </a:spcAft>
            </a:pPr>
            <a:r>
              <a:rPr sz="1200" b="0" i="0">
                <a:solidFill>
                  <a:schemeClr val="tx1"/>
                </a:solidFill>
                <a:latin typeface="Calibri"/>
              </a:rPr>
              <a:t>It recomputes every number from the raw data and finds 363 where the plan says 362. It sends the plan back, the messages are rewritten, and the Critic fails them again. After three failures in a row a person takes over.</a:t>
            </a:r>
          </a:p>
          <a:p>
            <a:pPr algn="l">
              <a:spcAft>
                <a:spcPts val="300"/>
              </a:spcAft>
            </a:pPr>
            <a:r>
              <a:rPr sz="1400" b="1" i="0">
                <a:solidFill>
                  <a:schemeClr val="accent1"/>
                </a:solidFill>
                <a:latin typeface="Calibri"/>
              </a:rPr>
              <a:t>Only one check failed</a:t>
            </a:r>
          </a:p>
          <a:p>
            <a:pPr algn="l">
              <a:spcAft>
                <a:spcPts val="1000"/>
              </a:spcAft>
            </a:pPr>
            <a:r>
              <a:rPr sz="1200" b="0" i="0">
                <a:solidFill>
                  <a:schemeClr val="tx1"/>
                </a:solidFill>
                <a:latin typeface="Calibri"/>
              </a:rPr>
              <a:t>Four of the five checks passed. The fifth, every number in a message matches the plan, failed each time.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0"/>
          </p:nvPr>
        </p:nvSpPr>
        <p:spPr>
          <a:xfrm>
            <a:off x="457200" y="256032"/>
            <a:ext cx="8229600" cy="548640"/>
          </a:xfrm>
        </p:spPr>
        <p:txBody>
          <a:bodyPr wrap="square" lIns="0" tIns="0" rIns="0" bIns="0" rtlCol="0" anchor="ctr"/>
          <a:lstStyle/>
          <a:p>
            <a:r>
              <a:t>Results and validation</a:t>
            </a:r>
          </a:p>
        </p:txBody>
      </p:sp>
      <p:sp>
        <p:nvSpPr>
          <p:cNvPr id="3" name="Stat 1"/>
          <p:cNvSpPr txBox="1"/>
          <p:nvPr/>
        </p:nvSpPr>
        <p:spPr>
          <a:xfrm>
            <a:off x="457200" y="914400"/>
            <a:ext cx="1920240" cy="1005840"/>
          </a:xfrm>
          <a:prstGeom prst="rect">
            <a:avLst/>
          </a:prstGeom>
          <a:noFill/>
        </p:spPr>
        <p:txBody>
          <a:bodyPr wrap="square" lIns="0" rIns="0" tIns="0" bIns="0" anchor="t">
            <a:spAutoFit/>
          </a:bodyPr>
          <a:lstStyle/>
          <a:p>
            <a:pPr algn="l">
              <a:spcAft>
                <a:spcPts val="200"/>
              </a:spcAft>
            </a:pPr>
            <a:r>
              <a:rPr sz="3000" b="1" i="0">
                <a:solidFill>
                  <a:schemeClr val="accent1"/>
                </a:solidFill>
                <a:latin typeface="Calibri"/>
              </a:rPr>
              <a:t>20 of 20</a:t>
            </a:r>
          </a:p>
          <a:p>
            <a:pPr algn="l"/>
            <a:r>
              <a:rPr sz="1200" b="0" i="0">
                <a:solidFill>
                  <a:schemeClr val="tx1"/>
                </a:solidFill>
                <a:latin typeface="Calibri"/>
              </a:rPr>
              <a:t>test cases end the way they should</a:t>
            </a:r>
          </a:p>
        </p:txBody>
      </p:sp>
      <p:sp>
        <p:nvSpPr>
          <p:cNvPr id="4" name="Stat 2"/>
          <p:cNvSpPr txBox="1"/>
          <p:nvPr/>
        </p:nvSpPr>
        <p:spPr>
          <a:xfrm>
            <a:off x="2560320" y="914400"/>
            <a:ext cx="1920240" cy="1005840"/>
          </a:xfrm>
          <a:prstGeom prst="rect">
            <a:avLst/>
          </a:prstGeom>
          <a:noFill/>
        </p:spPr>
        <p:txBody>
          <a:bodyPr wrap="square" lIns="0" rIns="0" tIns="0" bIns="0" anchor="t">
            <a:spAutoFit/>
          </a:bodyPr>
          <a:lstStyle/>
          <a:p>
            <a:pPr algn="l">
              <a:spcAft>
                <a:spcPts val="200"/>
              </a:spcAft>
            </a:pPr>
            <a:r>
              <a:rPr sz="3000" b="1" i="0">
                <a:solidFill>
                  <a:schemeClr val="accent1"/>
                </a:solidFill>
                <a:latin typeface="Calibri"/>
              </a:rPr>
              <a:t>12 of 12</a:t>
            </a:r>
          </a:p>
          <a:p>
            <a:pPr algn="l"/>
            <a:r>
              <a:rPr sz="1200" b="0" i="0">
                <a:solidFill>
                  <a:schemeClr val="tx1"/>
                </a:solidFill>
                <a:latin typeface="Calibri"/>
              </a:rPr>
              <a:t>replans cost less than the manual fix</a:t>
            </a:r>
          </a:p>
        </p:txBody>
      </p:sp>
      <p:sp>
        <p:nvSpPr>
          <p:cNvPr id="5" name="Stat 3"/>
          <p:cNvSpPr txBox="1"/>
          <p:nvPr/>
        </p:nvSpPr>
        <p:spPr>
          <a:xfrm>
            <a:off x="4663440" y="914400"/>
            <a:ext cx="1920240" cy="1005840"/>
          </a:xfrm>
          <a:prstGeom prst="rect">
            <a:avLst/>
          </a:prstGeom>
          <a:noFill/>
        </p:spPr>
        <p:txBody>
          <a:bodyPr wrap="square" lIns="0" rIns="0" tIns="0" bIns="0" anchor="t">
            <a:spAutoFit/>
          </a:bodyPr>
          <a:lstStyle/>
          <a:p>
            <a:pPr algn="l">
              <a:spcAft>
                <a:spcPts val="200"/>
              </a:spcAft>
            </a:pPr>
            <a:r>
              <a:rPr sz="3000" b="1" i="0">
                <a:solidFill>
                  <a:schemeClr val="accent1"/>
                </a:solidFill>
                <a:latin typeface="Calibri"/>
              </a:rPr>
              <a:t>19%</a:t>
            </a:r>
          </a:p>
          <a:p>
            <a:pPr algn="l"/>
            <a:r>
              <a:rPr sz="1200" b="0" i="0">
                <a:solidFill>
                  <a:schemeClr val="tx1"/>
                </a:solidFill>
                <a:latin typeface="Calibri"/>
              </a:rPr>
              <a:t>median saving, from 5% to 80% across cases</a:t>
            </a:r>
          </a:p>
        </p:txBody>
      </p:sp>
      <p:sp>
        <p:nvSpPr>
          <p:cNvPr id="6" name="Stat 4"/>
          <p:cNvSpPr txBox="1"/>
          <p:nvPr/>
        </p:nvSpPr>
        <p:spPr>
          <a:xfrm>
            <a:off x="6766559" y="914400"/>
            <a:ext cx="1920240" cy="1005840"/>
          </a:xfrm>
          <a:prstGeom prst="rect">
            <a:avLst/>
          </a:prstGeom>
          <a:noFill/>
        </p:spPr>
        <p:txBody>
          <a:bodyPr wrap="square" lIns="0" rIns="0" tIns="0" bIns="0" anchor="t">
            <a:spAutoFit/>
          </a:bodyPr>
          <a:lstStyle/>
          <a:p>
            <a:pPr algn="l">
              <a:spcAft>
                <a:spcPts val="200"/>
              </a:spcAft>
            </a:pPr>
            <a:r>
              <a:rPr sz="3000" b="1" i="0">
                <a:solidFill>
                  <a:schemeClr val="accent1"/>
                </a:solidFill>
                <a:latin typeface="Calibri"/>
              </a:rPr>
              <a:t>2 of 2</a:t>
            </a:r>
          </a:p>
          <a:p>
            <a:pPr algn="l"/>
            <a:r>
              <a:rPr sz="1200" b="0" i="0">
                <a:solidFill>
                  <a:schemeClr val="tx1"/>
                </a:solidFill>
                <a:latin typeface="Calibri"/>
              </a:rPr>
              <a:t>planted mistakes caught by the Critic</a:t>
            </a:r>
          </a:p>
        </p:txBody>
      </p:sp>
      <p:pic>
        <p:nvPicPr>
          <p:cNvPr id="7" name="Picture 6" descr="Screenshot of the app: stacked bars comparing the cost of doing nothing (162,187), the manual fix (93,942) and the optimized plan (85,749), each split into parts and late penalties"/>
          <p:cNvPicPr>
            <a:picLocks noChangeAspect="1"/>
          </p:cNvPicPr>
          <p:nvPr/>
        </p:nvPicPr>
        <p:blipFill>
          <a:blip r:embed="rId2"/>
          <a:stretch>
            <a:fillRect/>
          </a:stretch>
        </p:blipFill>
        <p:spPr>
          <a:xfrm>
            <a:off x="457200" y="2194560"/>
            <a:ext cx="5669280" cy="2008155"/>
          </a:xfrm>
          <a:prstGeom prst="rect">
            <a:avLst/>
          </a:prstGeom>
          <a:ln w="9525">
            <a:solidFill>
              <a:schemeClr val="accent4"/>
            </a:solidFill>
          </a:ln>
        </p:spPr>
      </p:pic>
      <p:sp>
        <p:nvSpPr>
          <p:cNvPr id="8" name="Cost caption"/>
          <p:cNvSpPr txBox="1"/>
          <p:nvPr/>
        </p:nvSpPr>
        <p:spPr>
          <a:xfrm>
            <a:off x="457200" y="4279392"/>
            <a:ext cx="5669280" cy="411480"/>
          </a:xfrm>
          <a:prstGeom prst="rect">
            <a:avLst/>
          </a:prstGeom>
          <a:noFill/>
        </p:spPr>
        <p:txBody>
          <a:bodyPr wrap="square" lIns="0" rIns="0" tIns="0" bIns="0" anchor="t">
            <a:spAutoFit/>
          </a:bodyPr>
          <a:lstStyle/>
          <a:p>
            <a:pPr algn="l"/>
            <a:r>
              <a:rPr sz="1100" b="0" i="1">
                <a:solidFill>
                  <a:schemeClr val="accent3"/>
                </a:solidFill>
                <a:latin typeface="Calibri"/>
              </a:rPr>
              <a:t>The same disruption as the last slide. Here the plan leaves 5 orders late against 2 for the manual fix, yet costs 8,193 less.</a:t>
            </a:r>
          </a:p>
        </p:txBody>
      </p:sp>
      <p:sp>
        <p:nvSpPr>
          <p:cNvPr id="9" name="Reading it honestly"/>
          <p:cNvSpPr txBox="1"/>
          <p:nvPr/>
        </p:nvSpPr>
        <p:spPr>
          <a:xfrm>
            <a:off x="6400800" y="2194560"/>
            <a:ext cx="2286000" cy="2468880"/>
          </a:xfrm>
          <a:prstGeom prst="rect">
            <a:avLst/>
          </a:prstGeom>
          <a:noFill/>
        </p:spPr>
        <p:txBody>
          <a:bodyPr wrap="square" lIns="0" rIns="0" tIns="0" bIns="0" anchor="t">
            <a:spAutoFit/>
          </a:bodyPr>
          <a:lstStyle/>
          <a:p>
            <a:pPr algn="l">
              <a:spcAft>
                <a:spcPts val="500"/>
              </a:spcAft>
            </a:pPr>
            <a:r>
              <a:rPr sz="1400" b="1" i="0">
                <a:solidFill>
                  <a:schemeClr val="accent1"/>
                </a:solidFill>
                <a:latin typeface="Calibri"/>
              </a:rPr>
              <a:t>Reading it honestly</a:t>
            </a:r>
          </a:p>
          <a:p>
            <a:pPr algn="l">
              <a:spcAft>
                <a:spcPts val="600"/>
              </a:spcAft>
            </a:pPr>
            <a:r>
              <a:rPr sz="1200" b="0" i="0">
                <a:solidFill>
                  <a:schemeClr val="tx1"/>
                </a:solidFill>
                <a:latin typeface="Calibri"/>
              </a:rPr>
              <a:t>Cost is parts plus late penalties. Over the 12 replans the plan had 21 late orders against 22, but in two cases it had more, because a small penalty can cost less than a rush.</a:t>
            </a:r>
          </a:p>
          <a:p>
            <a:pPr algn="l"/>
            <a:r>
              <a:rPr sz="1200" b="0" i="0">
                <a:solidFill>
                  <a:schemeClr val="tx1"/>
                </a:solidFill>
                <a:latin typeface="Calibri"/>
              </a:rPr>
              <a:t>The manual fix is our own stand-in for a busy planner, and the data is synthetic, so this shows the workflow works, not what a real plant would save.</a:t>
            </a:r>
          </a:p>
        </p:txBody>
      </p:sp>
    </p:spTree>
  </p:cSld>
  <p:clrMapOvr>
    <a:masterClrMapping/>
  </p:clrMapOvr>
</p:sld>
</file>

<file path=ppt/theme/theme1.xml><?xml version="1.0" encoding="utf-8"?>
<a:theme xmlns:a="http://schemas.openxmlformats.org/drawingml/2006/main" name="Supply Chain Replanner">
  <a:themeElements>
    <a:clrScheme name="Supply Chain Replanner">
      <a:dk1>
        <a:srgbClr val="16243D"/>
      </a:dk1>
      <a:lt1>
        <a:srgbClr val="FFFFFF"/>
      </a:lt1>
      <a:dk2>
        <a:srgbClr val="2F7F79"/>
      </a:dk2>
      <a:lt2>
        <a:srgbClr val="EEF4F4"/>
      </a:lt2>
      <a:accent1>
        <a:srgbClr val="2F7F79"/>
      </a:accent1>
      <a:accent2>
        <a:srgbClr val="B5483A"/>
      </a:accent2>
      <a:accent3>
        <a:srgbClr val="5B6B7C"/>
      </a:accent3>
      <a:accent4>
        <a:srgbClr val="D8E8E6"/>
      </a:accent4>
      <a:accent5>
        <a:srgbClr val="F8E7E4"/>
      </a:accent5>
      <a:accent6>
        <a:srgbClr val="3B4F6B"/>
      </a:accent6>
      <a:hlink>
        <a:srgbClr val="2F7F79"/>
      </a:hlink>
      <a:folHlink>
        <a:srgbClr val="5B6B7C"/>
      </a:folHlink>
    </a:clrScheme>
    <a:fontScheme name="Supply Chain Replanner">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Multi-Agent Disruption Replanning for Manufacturing Supply Chains</dc:title>
  <dc:subject>PptxGenJS Presentation</dc:subject>
  <dc:creator>Aditya Sharma, Amaan Saxena</dc:creator>
  <cp:lastModifiedBy>Aditya Sharma, Amaan Saxena</cp:lastModifiedBy>
  <cp:revision>1</cp:revision>
  <dcterms:created xsi:type="dcterms:W3CDTF">2026-10-15T04:04:10Z</dcterms:created>
  <dcterms:modified xsi:type="dcterms:W3CDTF">2026-10-15T04:04:10Z</dcterms:modified>
</cp:coreProperties>
</file>